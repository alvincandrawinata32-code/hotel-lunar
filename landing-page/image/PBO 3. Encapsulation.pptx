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  <p:sldMasterId id="2147483691" r:id="rId3"/>
  </p:sldMasterIdLst>
  <p:notesMasterIdLst>
    <p:notesMasterId r:id="rId27"/>
  </p:notesMasterIdLst>
  <p:sldIdLst>
    <p:sldId id="256" r:id="rId4"/>
    <p:sldId id="304" r:id="rId5"/>
    <p:sldId id="307" r:id="rId6"/>
    <p:sldId id="308" r:id="rId7"/>
    <p:sldId id="309" r:id="rId8"/>
    <p:sldId id="310" r:id="rId9"/>
    <p:sldId id="305" r:id="rId10"/>
    <p:sldId id="326" r:id="rId11"/>
    <p:sldId id="327" r:id="rId12"/>
    <p:sldId id="328" r:id="rId13"/>
    <p:sldId id="311" r:id="rId14"/>
    <p:sldId id="312" r:id="rId15"/>
    <p:sldId id="323" r:id="rId16"/>
    <p:sldId id="325" r:id="rId17"/>
    <p:sldId id="313" r:id="rId18"/>
    <p:sldId id="314" r:id="rId19"/>
    <p:sldId id="317" r:id="rId20"/>
    <p:sldId id="329" r:id="rId21"/>
    <p:sldId id="318" r:id="rId22"/>
    <p:sldId id="319" r:id="rId23"/>
    <p:sldId id="322" r:id="rId24"/>
    <p:sldId id="330" r:id="rId25"/>
    <p:sldId id="303" r:id="rId26"/>
  </p:sldIdLst>
  <p:sldSz cx="9144000" cy="5143500" type="screen16x9"/>
  <p:notesSz cx="6858000" cy="9144000"/>
  <p:embeddedFontLst>
    <p:embeddedFont>
      <p:font typeface="Eras Demi ITC" panose="020B0805030504020804" pitchFamily="34" charset="0"/>
      <p:regular r:id="rId28"/>
    </p:embeddedFont>
    <p:embeddedFont>
      <p:font typeface="Proxima Nova" panose="020B0604020202020204" charset="0"/>
      <p:regular r:id="rId29"/>
      <p:bold r:id="rId30"/>
      <p:italic r:id="rId31"/>
      <p:boldItalic r:id="rId32"/>
    </p:embeddedFont>
    <p:embeddedFont>
      <p:font typeface="Proxima Nova Semibold" panose="020B0604020202020204" charset="0"/>
      <p:regular r:id="rId33"/>
      <p:bold r:id="rId34"/>
      <p:boldItalic r:id="rId35"/>
    </p:embeddedFont>
    <p:embeddedFont>
      <p:font typeface="Reem Kufi" pitchFamily="2"/>
      <p:regular r:id="rId36"/>
    </p:embeddedFont>
    <p:embeddedFont>
      <p:font typeface="Source Sans Pro" panose="020B0503030403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49F6BAF-08D7-40BF-BB8A-D8244ED61B3F}">
          <p14:sldIdLst>
            <p14:sldId id="256"/>
          </p14:sldIdLst>
        </p14:section>
        <p14:section name="Konsep" id="{E7413FCD-BF08-4B3E-81E1-73B58EC70EF1}">
          <p14:sldIdLst>
            <p14:sldId id="304"/>
            <p14:sldId id="307"/>
            <p14:sldId id="308"/>
            <p14:sldId id="309"/>
            <p14:sldId id="310"/>
          </p14:sldIdLst>
        </p14:section>
        <p14:section name="Implementasi" id="{62AC4AAE-4E98-4C8B-BFA4-7A80B92618FB}">
          <p14:sldIdLst>
            <p14:sldId id="305"/>
            <p14:sldId id="326"/>
            <p14:sldId id="327"/>
            <p14:sldId id="328"/>
            <p14:sldId id="311"/>
            <p14:sldId id="312"/>
            <p14:sldId id="323"/>
            <p14:sldId id="325"/>
            <p14:sldId id="313"/>
            <p14:sldId id="314"/>
            <p14:sldId id="317"/>
            <p14:sldId id="329"/>
            <p14:sldId id="318"/>
            <p14:sldId id="319"/>
            <p14:sldId id="322"/>
            <p14:sldId id="330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759021-DC3D-4529-B45E-FDD56340C465}">
  <a:tblStyle styleId="{39759021-DC3D-4529-B45E-FDD56340C4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7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2.fntdata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DFDE1F-70E1-4B28-BC29-F38558552AE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FD7CA553-A2B2-467F-B646-B92FA56A10F6}">
      <dgm:prSet/>
      <dgm:spPr/>
      <dgm:t>
        <a:bodyPr/>
        <a:lstStyle/>
        <a:p>
          <a:r>
            <a:rPr lang="en-US" b="0" i="0" dirty="0" err="1"/>
            <a:t>Saat</a:t>
          </a:r>
          <a:r>
            <a:rPr lang="en-US" b="0" i="0" dirty="0"/>
            <a:t> </a:t>
          </a:r>
          <a:r>
            <a:rPr lang="en-US" b="0" i="0" dirty="0" err="1"/>
            <a:t>ingin</a:t>
          </a:r>
          <a:r>
            <a:rPr lang="en-US" b="0" i="0" dirty="0"/>
            <a:t> </a:t>
          </a:r>
          <a:r>
            <a:rPr lang="en-US" b="0" i="0" dirty="0" err="1"/>
            <a:t>membatasi</a:t>
          </a:r>
          <a:r>
            <a:rPr lang="en-US" b="0" i="0" dirty="0"/>
            <a:t> </a:t>
          </a:r>
          <a:r>
            <a:rPr lang="en-US" b="0" i="0" dirty="0" err="1"/>
            <a:t>akses</a:t>
          </a:r>
          <a:r>
            <a:rPr lang="en-US" b="0" i="0" dirty="0"/>
            <a:t> ke </a:t>
          </a:r>
          <a:r>
            <a:rPr lang="en-US" b="0" i="0" dirty="0" err="1"/>
            <a:t>suatu</a:t>
          </a:r>
          <a:r>
            <a:rPr lang="en-US" b="0" i="0" dirty="0"/>
            <a:t> </a:t>
          </a:r>
          <a:r>
            <a:rPr lang="en-US" b="0" i="0" dirty="0" err="1"/>
            <a:t>properti</a:t>
          </a:r>
          <a:endParaRPr lang="id-ID" dirty="0"/>
        </a:p>
      </dgm:t>
    </dgm:pt>
    <dgm:pt modelId="{2DBC45FB-5029-4F5E-B1A8-06AD2DADAE60}" type="parTrans" cxnId="{DCB80C26-476B-4ABD-9FE7-CD63B22BE0BC}">
      <dgm:prSet/>
      <dgm:spPr/>
      <dgm:t>
        <a:bodyPr/>
        <a:lstStyle/>
        <a:p>
          <a:endParaRPr lang="id-ID"/>
        </a:p>
      </dgm:t>
    </dgm:pt>
    <dgm:pt modelId="{ADBA741E-FC50-4D09-839B-4DD956A590D7}" type="sibTrans" cxnId="{DCB80C26-476B-4ABD-9FE7-CD63B22BE0BC}">
      <dgm:prSet/>
      <dgm:spPr/>
      <dgm:t>
        <a:bodyPr/>
        <a:lstStyle/>
        <a:p>
          <a:endParaRPr lang="id-ID"/>
        </a:p>
      </dgm:t>
    </dgm:pt>
    <dgm:pt modelId="{71D220D7-01A6-43F4-8C87-95B5144C30C5}">
      <dgm:prSet/>
      <dgm:spPr/>
      <dgm:t>
        <a:bodyPr/>
        <a:lstStyle/>
        <a:p>
          <a:r>
            <a:rPr lang="en-US" b="0" i="0" dirty="0" err="1"/>
            <a:t>Saat</a:t>
          </a:r>
          <a:r>
            <a:rPr lang="en-US" b="0" i="0" dirty="0"/>
            <a:t> </a:t>
          </a:r>
          <a:r>
            <a:rPr lang="en-US" b="0" i="0" dirty="0" err="1"/>
            <a:t>ingin</a:t>
          </a:r>
          <a:r>
            <a:rPr lang="en-US" b="0" i="0" dirty="0"/>
            <a:t> </a:t>
          </a:r>
          <a:r>
            <a:rPr lang="en-US" b="0" i="0" dirty="0" err="1"/>
            <a:t>menjalankan</a:t>
          </a:r>
          <a:r>
            <a:rPr lang="en-US" b="0" i="0" dirty="0"/>
            <a:t> </a:t>
          </a:r>
          <a:r>
            <a:rPr lang="en-US" b="0" i="0" dirty="0" err="1"/>
            <a:t>suatu</a:t>
          </a:r>
          <a:r>
            <a:rPr lang="en-US" b="0" i="0" dirty="0"/>
            <a:t> </a:t>
          </a:r>
          <a:r>
            <a:rPr lang="en-US" b="0" i="0" dirty="0" err="1"/>
            <a:t>prosedur</a:t>
          </a:r>
          <a:r>
            <a:rPr lang="en-US" b="0" i="0" dirty="0"/>
            <a:t> </a:t>
          </a:r>
          <a:r>
            <a:rPr lang="en-US" b="0" i="0" dirty="0" err="1"/>
            <a:t>tambahan</a:t>
          </a:r>
          <a:r>
            <a:rPr lang="en-US" b="0" i="0" dirty="0"/>
            <a:t> </a:t>
          </a:r>
          <a:r>
            <a:rPr lang="en-US" b="0" i="0" dirty="0" err="1"/>
            <a:t>sebelum</a:t>
          </a:r>
          <a:r>
            <a:rPr lang="en-US" b="0" i="0" dirty="0"/>
            <a:t> </a:t>
          </a:r>
          <a:r>
            <a:rPr lang="en-US" b="0" i="0" dirty="0" err="1"/>
            <a:t>membaca</a:t>
          </a:r>
          <a:r>
            <a:rPr lang="en-US" b="0" i="0" dirty="0"/>
            <a:t> data dari dalam </a:t>
          </a:r>
          <a:r>
            <a:rPr lang="en-US" b="0" i="0" dirty="0" err="1"/>
            <a:t>properti</a:t>
          </a:r>
          <a:r>
            <a:rPr lang="en-US" b="0" i="0" dirty="0"/>
            <a:t> / mengubah data ke dalam </a:t>
          </a:r>
          <a:r>
            <a:rPr lang="en-US" b="0" i="0" dirty="0" err="1"/>
            <a:t>properti</a:t>
          </a:r>
          <a:endParaRPr lang="id-ID" dirty="0"/>
        </a:p>
      </dgm:t>
    </dgm:pt>
    <dgm:pt modelId="{63E18F7D-DC79-4DB8-946E-0D179D4484B0}" type="parTrans" cxnId="{30A19360-3264-48F2-AA5E-A11FAE909EDB}">
      <dgm:prSet/>
      <dgm:spPr/>
      <dgm:t>
        <a:bodyPr/>
        <a:lstStyle/>
        <a:p>
          <a:endParaRPr lang="id-ID"/>
        </a:p>
      </dgm:t>
    </dgm:pt>
    <dgm:pt modelId="{81B3607C-F059-4DE2-9A13-71785CE8255E}" type="sibTrans" cxnId="{30A19360-3264-48F2-AA5E-A11FAE909EDB}">
      <dgm:prSet/>
      <dgm:spPr/>
      <dgm:t>
        <a:bodyPr/>
        <a:lstStyle/>
        <a:p>
          <a:endParaRPr lang="id-ID"/>
        </a:p>
      </dgm:t>
    </dgm:pt>
    <dgm:pt modelId="{734942BC-A77C-420B-98E2-08C64BBF40E0}">
      <dgm:prSet/>
      <dgm:spPr/>
      <dgm:t>
        <a:bodyPr/>
        <a:lstStyle/>
        <a:p>
          <a:r>
            <a:rPr lang="en-US" b="0" i="0" dirty="0" err="1"/>
            <a:t>Saat</a:t>
          </a:r>
          <a:r>
            <a:rPr lang="en-US" b="0" i="0" dirty="0"/>
            <a:t> </a:t>
          </a:r>
          <a:r>
            <a:rPr lang="en-US" b="0" i="0" dirty="0" err="1"/>
            <a:t>ingin</a:t>
          </a:r>
          <a:r>
            <a:rPr lang="en-US" b="0" i="0" dirty="0"/>
            <a:t> </a:t>
          </a:r>
          <a:r>
            <a:rPr lang="en-US" b="0" i="0" dirty="0" err="1"/>
            <a:t>memvalidasi</a:t>
          </a:r>
          <a:r>
            <a:rPr lang="en-US" b="0" i="0" dirty="0"/>
            <a:t> data dari dalam </a:t>
          </a:r>
          <a:r>
            <a:rPr lang="en-US" b="0" i="0" dirty="0" err="1"/>
            <a:t>properti</a:t>
          </a:r>
          <a:r>
            <a:rPr lang="en-US" b="0" i="0" dirty="0"/>
            <a:t> / pada </a:t>
          </a:r>
          <a:r>
            <a:rPr lang="en-US" b="0" i="0" dirty="0" err="1"/>
            <a:t>saat</a:t>
          </a:r>
          <a:r>
            <a:rPr lang="en-US" b="0" i="0" dirty="0"/>
            <a:t> </a:t>
          </a:r>
          <a:r>
            <a:rPr lang="en-US" b="0" i="0" dirty="0" err="1"/>
            <a:t>menyimpan</a:t>
          </a:r>
          <a:r>
            <a:rPr lang="en-US" b="0" i="0" dirty="0"/>
            <a:t> data ke dalam </a:t>
          </a:r>
          <a:r>
            <a:rPr lang="en-US" b="0" i="0" dirty="0" err="1"/>
            <a:t>properti</a:t>
          </a:r>
          <a:endParaRPr lang="id-ID" dirty="0"/>
        </a:p>
      </dgm:t>
    </dgm:pt>
    <dgm:pt modelId="{B78AE070-62F5-4744-9D7B-B16A158B8A48}" type="parTrans" cxnId="{68A42652-F9B5-491D-B8B9-30DCCA3324DE}">
      <dgm:prSet/>
      <dgm:spPr/>
      <dgm:t>
        <a:bodyPr/>
        <a:lstStyle/>
        <a:p>
          <a:endParaRPr lang="id-ID"/>
        </a:p>
      </dgm:t>
    </dgm:pt>
    <dgm:pt modelId="{F4A6273D-38AC-41DA-A3E0-6DB0417A29AB}" type="sibTrans" cxnId="{68A42652-F9B5-491D-B8B9-30DCCA3324DE}">
      <dgm:prSet/>
      <dgm:spPr/>
      <dgm:t>
        <a:bodyPr/>
        <a:lstStyle/>
        <a:p>
          <a:endParaRPr lang="id-ID"/>
        </a:p>
      </dgm:t>
    </dgm:pt>
    <dgm:pt modelId="{76969CDA-457C-4085-96F7-49FF01CCFF75}" type="pres">
      <dgm:prSet presAssocID="{00DFDE1F-70E1-4B28-BC29-F38558552AE4}" presName="linear" presStyleCnt="0">
        <dgm:presLayoutVars>
          <dgm:animLvl val="lvl"/>
          <dgm:resizeHandles val="exact"/>
        </dgm:presLayoutVars>
      </dgm:prSet>
      <dgm:spPr/>
    </dgm:pt>
    <dgm:pt modelId="{F31ABD6E-F1CD-411D-BBF8-94422AA0D8B1}" type="pres">
      <dgm:prSet presAssocID="{FD7CA553-A2B2-467F-B646-B92FA56A10F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910868-6695-4E11-ACD0-8F45E8AFD9D1}" type="pres">
      <dgm:prSet presAssocID="{ADBA741E-FC50-4D09-839B-4DD956A590D7}" presName="spacer" presStyleCnt="0"/>
      <dgm:spPr/>
    </dgm:pt>
    <dgm:pt modelId="{37EE6928-C94F-4A32-8402-71D416319C80}" type="pres">
      <dgm:prSet presAssocID="{71D220D7-01A6-43F4-8C87-95B5144C30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6FF18C-F1D8-4996-A506-1192431883AB}" type="pres">
      <dgm:prSet presAssocID="{81B3607C-F059-4DE2-9A13-71785CE8255E}" presName="spacer" presStyleCnt="0"/>
      <dgm:spPr/>
    </dgm:pt>
    <dgm:pt modelId="{9D540592-ACE0-4386-B7D8-9C830807C7C1}" type="pres">
      <dgm:prSet presAssocID="{734942BC-A77C-420B-98E2-08C64BBF40E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CB80C26-476B-4ABD-9FE7-CD63B22BE0BC}" srcId="{00DFDE1F-70E1-4B28-BC29-F38558552AE4}" destId="{FD7CA553-A2B2-467F-B646-B92FA56A10F6}" srcOrd="0" destOrd="0" parTransId="{2DBC45FB-5029-4F5E-B1A8-06AD2DADAE60}" sibTransId="{ADBA741E-FC50-4D09-839B-4DD956A590D7}"/>
    <dgm:cxn modelId="{30A19360-3264-48F2-AA5E-A11FAE909EDB}" srcId="{00DFDE1F-70E1-4B28-BC29-F38558552AE4}" destId="{71D220D7-01A6-43F4-8C87-95B5144C30C5}" srcOrd="1" destOrd="0" parTransId="{63E18F7D-DC79-4DB8-946E-0D179D4484B0}" sibTransId="{81B3607C-F059-4DE2-9A13-71785CE8255E}"/>
    <dgm:cxn modelId="{1D711544-1BC2-466C-A7D1-4FB1ED1F28CE}" type="presOf" srcId="{00DFDE1F-70E1-4B28-BC29-F38558552AE4}" destId="{76969CDA-457C-4085-96F7-49FF01CCFF75}" srcOrd="0" destOrd="0" presId="urn:microsoft.com/office/officeart/2005/8/layout/vList2"/>
    <dgm:cxn modelId="{68A42652-F9B5-491D-B8B9-30DCCA3324DE}" srcId="{00DFDE1F-70E1-4B28-BC29-F38558552AE4}" destId="{734942BC-A77C-420B-98E2-08C64BBF40E0}" srcOrd="2" destOrd="0" parTransId="{B78AE070-62F5-4744-9D7B-B16A158B8A48}" sibTransId="{F4A6273D-38AC-41DA-A3E0-6DB0417A29AB}"/>
    <dgm:cxn modelId="{593746B5-F672-486B-BF1A-A02C0DA4A0D5}" type="presOf" srcId="{71D220D7-01A6-43F4-8C87-95B5144C30C5}" destId="{37EE6928-C94F-4A32-8402-71D416319C80}" srcOrd="0" destOrd="0" presId="urn:microsoft.com/office/officeart/2005/8/layout/vList2"/>
    <dgm:cxn modelId="{07A1BFE8-D0C1-4B07-9120-546489548DEC}" type="presOf" srcId="{FD7CA553-A2B2-467F-B646-B92FA56A10F6}" destId="{F31ABD6E-F1CD-411D-BBF8-94422AA0D8B1}" srcOrd="0" destOrd="0" presId="urn:microsoft.com/office/officeart/2005/8/layout/vList2"/>
    <dgm:cxn modelId="{286510E9-368A-47CD-B700-40E243364F31}" type="presOf" srcId="{734942BC-A77C-420B-98E2-08C64BBF40E0}" destId="{9D540592-ACE0-4386-B7D8-9C830807C7C1}" srcOrd="0" destOrd="0" presId="urn:microsoft.com/office/officeart/2005/8/layout/vList2"/>
    <dgm:cxn modelId="{1741A423-EF0F-4744-B926-4C2BEE138593}" type="presParOf" srcId="{76969CDA-457C-4085-96F7-49FF01CCFF75}" destId="{F31ABD6E-F1CD-411D-BBF8-94422AA0D8B1}" srcOrd="0" destOrd="0" presId="urn:microsoft.com/office/officeart/2005/8/layout/vList2"/>
    <dgm:cxn modelId="{4F04B285-A8CE-40A4-A86D-AC620AE8ADB9}" type="presParOf" srcId="{76969CDA-457C-4085-96F7-49FF01CCFF75}" destId="{B4910868-6695-4E11-ACD0-8F45E8AFD9D1}" srcOrd="1" destOrd="0" presId="urn:microsoft.com/office/officeart/2005/8/layout/vList2"/>
    <dgm:cxn modelId="{D6F76167-4BF3-4FE7-A31F-DDEB72AE630C}" type="presParOf" srcId="{76969CDA-457C-4085-96F7-49FF01CCFF75}" destId="{37EE6928-C94F-4A32-8402-71D416319C80}" srcOrd="2" destOrd="0" presId="urn:microsoft.com/office/officeart/2005/8/layout/vList2"/>
    <dgm:cxn modelId="{66626919-DEF7-4119-8B02-F672801E1B6E}" type="presParOf" srcId="{76969CDA-457C-4085-96F7-49FF01CCFF75}" destId="{FE6FF18C-F1D8-4996-A506-1192431883AB}" srcOrd="3" destOrd="0" presId="urn:microsoft.com/office/officeart/2005/8/layout/vList2"/>
    <dgm:cxn modelId="{C2CA8AFD-642C-4DEE-8C91-71B4769E1965}" type="presParOf" srcId="{76969CDA-457C-4085-96F7-49FF01CCFF75}" destId="{9D540592-ACE0-4386-B7D8-9C830807C7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ABD6E-F1CD-411D-BBF8-94422AA0D8B1}">
      <dsp:nvSpPr>
        <dsp:cNvPr id="0" name=""/>
        <dsp:cNvSpPr/>
      </dsp:nvSpPr>
      <dsp:spPr>
        <a:xfrm>
          <a:off x="0" y="31155"/>
          <a:ext cx="675930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Saat</a:t>
          </a:r>
          <a:r>
            <a:rPr lang="en-US" sz="1900" b="0" i="0" kern="1200" dirty="0"/>
            <a:t> </a:t>
          </a:r>
          <a:r>
            <a:rPr lang="en-US" sz="1900" b="0" i="0" kern="1200" dirty="0" err="1"/>
            <a:t>ingin</a:t>
          </a:r>
          <a:r>
            <a:rPr lang="en-US" sz="1900" b="0" i="0" kern="1200" dirty="0"/>
            <a:t> </a:t>
          </a:r>
          <a:r>
            <a:rPr lang="en-US" sz="1900" b="0" i="0" kern="1200" dirty="0" err="1"/>
            <a:t>membatasi</a:t>
          </a:r>
          <a:r>
            <a:rPr lang="en-US" sz="1900" b="0" i="0" kern="1200" dirty="0"/>
            <a:t> </a:t>
          </a:r>
          <a:r>
            <a:rPr lang="en-US" sz="1900" b="0" i="0" kern="1200" dirty="0" err="1"/>
            <a:t>akses</a:t>
          </a:r>
          <a:r>
            <a:rPr lang="en-US" sz="1900" b="0" i="0" kern="1200" dirty="0"/>
            <a:t> ke </a:t>
          </a:r>
          <a:r>
            <a:rPr lang="en-US" sz="1900" b="0" i="0" kern="1200" dirty="0" err="1"/>
            <a:t>suatu</a:t>
          </a:r>
          <a:r>
            <a:rPr lang="en-US" sz="1900" b="0" i="0" kern="1200" dirty="0"/>
            <a:t> </a:t>
          </a:r>
          <a:r>
            <a:rPr lang="en-US" sz="1900" b="0" i="0" kern="1200" dirty="0" err="1"/>
            <a:t>properti</a:t>
          </a:r>
          <a:endParaRPr lang="id-ID" sz="1900" kern="1200" dirty="0"/>
        </a:p>
      </dsp:txBody>
      <dsp:txXfrm>
        <a:off x="48833" y="79988"/>
        <a:ext cx="6661634" cy="902684"/>
      </dsp:txXfrm>
    </dsp:sp>
    <dsp:sp modelId="{37EE6928-C94F-4A32-8402-71D416319C80}">
      <dsp:nvSpPr>
        <dsp:cNvPr id="0" name=""/>
        <dsp:cNvSpPr/>
      </dsp:nvSpPr>
      <dsp:spPr>
        <a:xfrm>
          <a:off x="0" y="1086225"/>
          <a:ext cx="675930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Saat</a:t>
          </a:r>
          <a:r>
            <a:rPr lang="en-US" sz="1900" b="0" i="0" kern="1200" dirty="0"/>
            <a:t> </a:t>
          </a:r>
          <a:r>
            <a:rPr lang="en-US" sz="1900" b="0" i="0" kern="1200" dirty="0" err="1"/>
            <a:t>ingin</a:t>
          </a:r>
          <a:r>
            <a:rPr lang="en-US" sz="1900" b="0" i="0" kern="1200" dirty="0"/>
            <a:t> </a:t>
          </a:r>
          <a:r>
            <a:rPr lang="en-US" sz="1900" b="0" i="0" kern="1200" dirty="0" err="1"/>
            <a:t>menjalankan</a:t>
          </a:r>
          <a:r>
            <a:rPr lang="en-US" sz="1900" b="0" i="0" kern="1200" dirty="0"/>
            <a:t> </a:t>
          </a:r>
          <a:r>
            <a:rPr lang="en-US" sz="1900" b="0" i="0" kern="1200" dirty="0" err="1"/>
            <a:t>suatu</a:t>
          </a:r>
          <a:r>
            <a:rPr lang="en-US" sz="1900" b="0" i="0" kern="1200" dirty="0"/>
            <a:t> </a:t>
          </a:r>
          <a:r>
            <a:rPr lang="en-US" sz="1900" b="0" i="0" kern="1200" dirty="0" err="1"/>
            <a:t>prosedur</a:t>
          </a:r>
          <a:r>
            <a:rPr lang="en-US" sz="1900" b="0" i="0" kern="1200" dirty="0"/>
            <a:t> </a:t>
          </a:r>
          <a:r>
            <a:rPr lang="en-US" sz="1900" b="0" i="0" kern="1200" dirty="0" err="1"/>
            <a:t>tambahan</a:t>
          </a:r>
          <a:r>
            <a:rPr lang="en-US" sz="1900" b="0" i="0" kern="1200" dirty="0"/>
            <a:t> </a:t>
          </a:r>
          <a:r>
            <a:rPr lang="en-US" sz="1900" b="0" i="0" kern="1200" dirty="0" err="1"/>
            <a:t>sebelum</a:t>
          </a:r>
          <a:r>
            <a:rPr lang="en-US" sz="1900" b="0" i="0" kern="1200" dirty="0"/>
            <a:t> </a:t>
          </a:r>
          <a:r>
            <a:rPr lang="en-US" sz="1900" b="0" i="0" kern="1200" dirty="0" err="1"/>
            <a:t>membaca</a:t>
          </a:r>
          <a:r>
            <a:rPr lang="en-US" sz="1900" b="0" i="0" kern="1200" dirty="0"/>
            <a:t> data dari dalam </a:t>
          </a:r>
          <a:r>
            <a:rPr lang="en-US" sz="1900" b="0" i="0" kern="1200" dirty="0" err="1"/>
            <a:t>properti</a:t>
          </a:r>
          <a:r>
            <a:rPr lang="en-US" sz="1900" b="0" i="0" kern="1200" dirty="0"/>
            <a:t> / mengubah data ke dalam </a:t>
          </a:r>
          <a:r>
            <a:rPr lang="en-US" sz="1900" b="0" i="0" kern="1200" dirty="0" err="1"/>
            <a:t>properti</a:t>
          </a:r>
          <a:endParaRPr lang="id-ID" sz="1900" kern="1200" dirty="0"/>
        </a:p>
      </dsp:txBody>
      <dsp:txXfrm>
        <a:off x="48833" y="1135058"/>
        <a:ext cx="6661634" cy="902684"/>
      </dsp:txXfrm>
    </dsp:sp>
    <dsp:sp modelId="{9D540592-ACE0-4386-B7D8-9C830807C7C1}">
      <dsp:nvSpPr>
        <dsp:cNvPr id="0" name=""/>
        <dsp:cNvSpPr/>
      </dsp:nvSpPr>
      <dsp:spPr>
        <a:xfrm>
          <a:off x="0" y="2141295"/>
          <a:ext cx="675930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Saat</a:t>
          </a:r>
          <a:r>
            <a:rPr lang="en-US" sz="1900" b="0" i="0" kern="1200" dirty="0"/>
            <a:t> </a:t>
          </a:r>
          <a:r>
            <a:rPr lang="en-US" sz="1900" b="0" i="0" kern="1200" dirty="0" err="1"/>
            <a:t>ingin</a:t>
          </a:r>
          <a:r>
            <a:rPr lang="en-US" sz="1900" b="0" i="0" kern="1200" dirty="0"/>
            <a:t> </a:t>
          </a:r>
          <a:r>
            <a:rPr lang="en-US" sz="1900" b="0" i="0" kern="1200" dirty="0" err="1"/>
            <a:t>memvalidasi</a:t>
          </a:r>
          <a:r>
            <a:rPr lang="en-US" sz="1900" b="0" i="0" kern="1200" dirty="0"/>
            <a:t> data dari dalam </a:t>
          </a:r>
          <a:r>
            <a:rPr lang="en-US" sz="1900" b="0" i="0" kern="1200" dirty="0" err="1"/>
            <a:t>properti</a:t>
          </a:r>
          <a:r>
            <a:rPr lang="en-US" sz="1900" b="0" i="0" kern="1200" dirty="0"/>
            <a:t> / pada </a:t>
          </a:r>
          <a:r>
            <a:rPr lang="en-US" sz="1900" b="0" i="0" kern="1200" dirty="0" err="1"/>
            <a:t>saat</a:t>
          </a:r>
          <a:r>
            <a:rPr lang="en-US" sz="1900" b="0" i="0" kern="1200" dirty="0"/>
            <a:t> </a:t>
          </a:r>
          <a:r>
            <a:rPr lang="en-US" sz="1900" b="0" i="0" kern="1200" dirty="0" err="1"/>
            <a:t>menyimpan</a:t>
          </a:r>
          <a:r>
            <a:rPr lang="en-US" sz="1900" b="0" i="0" kern="1200" dirty="0"/>
            <a:t> data ke dalam </a:t>
          </a:r>
          <a:r>
            <a:rPr lang="en-US" sz="1900" b="0" i="0" kern="1200" dirty="0" err="1"/>
            <a:t>properti</a:t>
          </a:r>
          <a:endParaRPr lang="id-ID" sz="1900" kern="1200" dirty="0"/>
        </a:p>
      </dsp:txBody>
      <dsp:txXfrm>
        <a:off x="48833" y="2190128"/>
        <a:ext cx="6661634" cy="902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55186e73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55186e73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7442ffb1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7442ffb1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149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8aea891483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8aea891483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626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8aea891483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8aea891483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944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837852887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7837852887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93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8c14e35215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8c14e35215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715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7442ffb1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7442ffb1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801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8b72c6205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8b72c6205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368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8b72c6205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8b72c6205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87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8aea891483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8aea891483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811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c14e3521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c14e3521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445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c14e3521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c14e3521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371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5af3b32c2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5af3b32c2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560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8d90738b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8d90738b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620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8d90738b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8d90738b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552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92850" y="2257100"/>
            <a:ext cx="5958300" cy="9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5200"/>
              <a:buNone/>
              <a:defRPr sz="5200">
                <a:solidFill>
                  <a:srgbClr val="EBB55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17650" y="1786700"/>
            <a:ext cx="39087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900108">
            <a:off x="7586327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A6890-452A-43DA-AC7E-F4AAAB19AF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256" y="166256"/>
            <a:ext cx="916917" cy="900000"/>
          </a:xfrm>
          <a:prstGeom prst="rect">
            <a:avLst/>
          </a:prstGeom>
        </p:spPr>
      </p:pic>
      <p:sp>
        <p:nvSpPr>
          <p:cNvPr id="3" name="Google Shape;190;p33">
            <a:extLst>
              <a:ext uri="{FF2B5EF4-FFF2-40B4-BE49-F238E27FC236}">
                <a16:creationId xmlns:a16="http://schemas.microsoft.com/office/drawing/2014/main" id="{45FF28BD-7714-B25D-75EC-6B9624902432}"/>
              </a:ext>
            </a:extLst>
          </p:cNvPr>
          <p:cNvSpPr/>
          <p:nvPr userDrawn="1"/>
        </p:nvSpPr>
        <p:spPr>
          <a:xfrm rot="5400000">
            <a:off x="4558741" y="2409699"/>
            <a:ext cx="26525" cy="186767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9A678-FF94-A2AE-0D22-ABEE6F9BB99D}"/>
              </a:ext>
            </a:extLst>
          </p:cNvPr>
          <p:cNvSpPr txBox="1"/>
          <p:nvPr userDrawn="1"/>
        </p:nvSpPr>
        <p:spPr>
          <a:xfrm>
            <a:off x="3205107" y="3486776"/>
            <a:ext cx="2789546" cy="11458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sz="1400" dirty="0">
                <a:solidFill>
                  <a:schemeClr val="bg1">
                    <a:lumMod val="65000"/>
                  </a:schemeClr>
                </a:solidFill>
              </a:rPr>
              <a:t>Oleh </a:t>
            </a:r>
            <a:r>
              <a:rPr lang="en-ID" sz="1400" b="1" dirty="0">
                <a:solidFill>
                  <a:schemeClr val="bg1">
                    <a:lumMod val="65000"/>
                  </a:schemeClr>
                </a:solidFill>
              </a:rPr>
              <a:t>Team Teaching PBO</a:t>
            </a:r>
            <a:endParaRPr lang="id-ID" sz="1400" b="1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D4 Teknologi </a:t>
            </a:r>
            <a:r>
              <a:rPr lang="en-ID" sz="1100" i="1" dirty="0" err="1">
                <a:solidFill>
                  <a:schemeClr val="bg1">
                    <a:lumMod val="65000"/>
                  </a:schemeClr>
                </a:solidFill>
              </a:rPr>
              <a:t>Rekayasa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 Perangkat Lunak</a:t>
            </a: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Jurusan Bisnis </a:t>
            </a:r>
            <a:r>
              <a:rPr lang="en-ID" sz="1100" i="1">
                <a:solidFill>
                  <a:schemeClr val="bg1">
                    <a:lumMod val="65000"/>
                  </a:schemeClr>
                </a:solidFill>
              </a:rPr>
              <a:t>dan Informatika</a:t>
            </a:r>
          </a:p>
          <a:p>
            <a:pPr algn="ctr">
              <a:lnSpc>
                <a:spcPct val="150000"/>
              </a:lnSpc>
            </a:pPr>
            <a:r>
              <a:rPr lang="en-ID" sz="1100" i="1">
                <a:solidFill>
                  <a:schemeClr val="bg1">
                    <a:lumMod val="65000"/>
                  </a:schemeClr>
                </a:solidFill>
              </a:rPr>
              <a:t>Politeknik 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Negeri Banyuwangi</a:t>
            </a:r>
            <a:endParaRPr lang="id-ID" sz="11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B4B8EC-3174-C4CA-5962-8A4910BCF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2500" r="56890"/>
          <a:stretch/>
        </p:blipFill>
        <p:spPr>
          <a:xfrm>
            <a:off x="1249429" y="0"/>
            <a:ext cx="7894571" cy="1332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3000"/>
              <a:buNone/>
              <a:defRPr sz="3000">
                <a:solidFill>
                  <a:srgbClr val="EBB55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3515050" y="540000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20000" y="4341175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2343300" y="2895900"/>
            <a:ext cx="44577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420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4930625" y="540000"/>
            <a:ext cx="349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1"/>
          </p:nvPr>
        </p:nvSpPr>
        <p:spPr>
          <a:xfrm>
            <a:off x="723900" y="2076450"/>
            <a:ext cx="2790900" cy="16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824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2206250" y="1877517"/>
            <a:ext cx="47373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003125" y="3059517"/>
            <a:ext cx="31428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/>
          <p:nvPr/>
        </p:nvSpPr>
        <p:spPr>
          <a:xfrm rot="9387396" flipH="1">
            <a:off x="7503726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/>
          <p:nvPr/>
        </p:nvSpPr>
        <p:spPr>
          <a:xfrm rot="-900108" flipH="1">
            <a:off x="-152805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47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">
  <p:cSld name="Bullet point"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830800" y="1564700"/>
            <a:ext cx="34368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AutoNum type="arabicPeriod"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532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s">
  <p:cSld name="Big number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 rot="9387396" flipH="1">
            <a:off x="7503726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 rot="-900108" flipH="1">
            <a:off x="-152805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37B7F"/>
              </a:buClr>
              <a:buSzPts val="3000"/>
              <a:buNone/>
              <a:defRPr sz="3000">
                <a:solidFill>
                  <a:srgbClr val="637B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721345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title" idx="3" hasCustomPrompt="1"/>
          </p:nvPr>
        </p:nvSpPr>
        <p:spPr>
          <a:xfrm>
            <a:off x="3578625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4"/>
          </p:nvPr>
        </p:nvSpPr>
        <p:spPr>
          <a:xfrm>
            <a:off x="3579970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title" idx="5" hasCustomPrompt="1"/>
          </p:nvPr>
        </p:nvSpPr>
        <p:spPr>
          <a:xfrm>
            <a:off x="6437250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6"/>
          </p:nvPr>
        </p:nvSpPr>
        <p:spPr>
          <a:xfrm>
            <a:off x="6438595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/>
          <p:nvPr/>
        </p:nvSpPr>
        <p:spPr>
          <a:xfrm flipH="1">
            <a:off x="3515112" y="4341175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547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657825" y="540000"/>
            <a:ext cx="476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245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5360825" y="540000"/>
            <a:ext cx="306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52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192350" y="1286875"/>
            <a:ext cx="6759300" cy="31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410375" y="540000"/>
            <a:ext cx="601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777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 1">
  <p:cSld name="Bullet Point 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5360825" y="540000"/>
            <a:ext cx="306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subTitle" idx="1"/>
          </p:nvPr>
        </p:nvSpPr>
        <p:spPr>
          <a:xfrm>
            <a:off x="1160550" y="1619250"/>
            <a:ext cx="4758900" cy="25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27"/>
          <p:cNvSpPr/>
          <p:nvPr/>
        </p:nvSpPr>
        <p:spPr>
          <a:xfrm flipH="1">
            <a:off x="3515112" y="4341175"/>
            <a:ext cx="4908900" cy="22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837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5FEE-CFAD-332F-15A7-34033E91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100" y="621720"/>
            <a:ext cx="7047300" cy="482400"/>
          </a:xfrm>
        </p:spPr>
        <p:txBody>
          <a:bodyPr/>
          <a:lstStyle>
            <a:lvl1pPr algn="l"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Google Shape;22;p4">
            <a:extLst>
              <a:ext uri="{FF2B5EF4-FFF2-40B4-BE49-F238E27FC236}">
                <a16:creationId xmlns:a16="http://schemas.microsoft.com/office/drawing/2014/main" id="{A52A845B-6043-48E7-28F7-DE0971D23CB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68100" y="1276359"/>
            <a:ext cx="7047300" cy="31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60000" lvl="0" indent="-36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200"/>
              <a:buChar char="●"/>
              <a:defRPr sz="1400">
                <a:solidFill>
                  <a:schemeClr val="bg1"/>
                </a:solidFill>
              </a:defRPr>
            </a:lvl1pPr>
            <a:lvl2pPr marL="720000" lvl="1" indent="-36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ts val="1200"/>
              <a:buChar char="○"/>
              <a:defRPr sz="1200">
                <a:solidFill>
                  <a:schemeClr val="bg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r>
              <a:rPr lang="en-ID" dirty="0" err="1"/>
              <a:t>Bla</a:t>
            </a:r>
            <a:endParaRPr lang="en-ID" dirty="0"/>
          </a:p>
          <a:p>
            <a:pPr lvl="1"/>
            <a:r>
              <a:rPr lang="en-ID" dirty="0" err="1"/>
              <a:t>bla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1955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92850" y="2257100"/>
            <a:ext cx="5958300" cy="9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5200"/>
              <a:buNone/>
              <a:defRPr sz="5200">
                <a:solidFill>
                  <a:srgbClr val="EBB55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17650" y="1786700"/>
            <a:ext cx="39087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900108">
            <a:off x="7586327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172C71-FBDE-5715-FE61-6884E4689D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256" y="166256"/>
            <a:ext cx="916917" cy="900000"/>
          </a:xfrm>
          <a:prstGeom prst="rect">
            <a:avLst/>
          </a:prstGeom>
        </p:spPr>
      </p:pic>
      <p:sp>
        <p:nvSpPr>
          <p:cNvPr id="3" name="Google Shape;190;p33">
            <a:extLst>
              <a:ext uri="{FF2B5EF4-FFF2-40B4-BE49-F238E27FC236}">
                <a16:creationId xmlns:a16="http://schemas.microsoft.com/office/drawing/2014/main" id="{3B0F7F2D-4489-3D14-09C0-A5ADA8B8FF19}"/>
              </a:ext>
            </a:extLst>
          </p:cNvPr>
          <p:cNvSpPr/>
          <p:nvPr userDrawn="1"/>
        </p:nvSpPr>
        <p:spPr>
          <a:xfrm rot="5400000">
            <a:off x="4558741" y="2409699"/>
            <a:ext cx="26525" cy="186767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A1B66-27AB-3A4F-BF24-709DDC654D58}"/>
              </a:ext>
            </a:extLst>
          </p:cNvPr>
          <p:cNvSpPr txBox="1"/>
          <p:nvPr userDrawn="1"/>
        </p:nvSpPr>
        <p:spPr>
          <a:xfrm>
            <a:off x="1267878" y="3486776"/>
            <a:ext cx="6664004" cy="638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sz="1400" dirty="0">
                <a:solidFill>
                  <a:schemeClr val="bg1">
                    <a:lumMod val="65000"/>
                  </a:schemeClr>
                </a:solidFill>
              </a:rPr>
              <a:t>Oleh </a:t>
            </a:r>
            <a:r>
              <a:rPr lang="id-ID" sz="1400" b="1" dirty="0">
                <a:solidFill>
                  <a:schemeClr val="bg1">
                    <a:lumMod val="65000"/>
                  </a:schemeClr>
                </a:solidFill>
              </a:rPr>
              <a:t>Khoirul Umam, </a:t>
            </a:r>
            <a:r>
              <a:rPr lang="en-ID" sz="1400" b="1" dirty="0" err="1">
                <a:solidFill>
                  <a:schemeClr val="bg1">
                    <a:lumMod val="65000"/>
                  </a:schemeClr>
                </a:solidFill>
              </a:rPr>
              <a:t>S.Pd</a:t>
            </a:r>
            <a:r>
              <a:rPr lang="en-ID" sz="1400" b="1" dirty="0">
                <a:solidFill>
                  <a:schemeClr val="bg1">
                    <a:lumMod val="65000"/>
                  </a:schemeClr>
                </a:solidFill>
              </a:rPr>
              <a:t>., </a:t>
            </a:r>
            <a:r>
              <a:rPr lang="id-ID" sz="1400" b="1" dirty="0">
                <a:solidFill>
                  <a:schemeClr val="bg1">
                    <a:lumMod val="65000"/>
                  </a:schemeClr>
                </a:solidFill>
              </a:rPr>
              <a:t>M.Kom</a:t>
            </a:r>
            <a:r>
              <a:rPr lang="en-ID" sz="1400" b="1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id-ID" sz="1400" b="1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D4 Teknologi </a:t>
            </a:r>
            <a:r>
              <a:rPr lang="en-ID" sz="1100" i="1" dirty="0" err="1">
                <a:solidFill>
                  <a:schemeClr val="bg1">
                    <a:lumMod val="65000"/>
                  </a:schemeClr>
                </a:solidFill>
              </a:rPr>
              <a:t>Rekayasa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ID" sz="1100" i="1" dirty="0" err="1">
                <a:solidFill>
                  <a:schemeClr val="bg1">
                    <a:lumMod val="65000"/>
                  </a:schemeClr>
                </a:solidFill>
              </a:rPr>
              <a:t>Perangkat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ID" sz="1100" i="1" dirty="0" err="1">
                <a:solidFill>
                  <a:schemeClr val="bg1">
                    <a:lumMod val="65000"/>
                  </a:schemeClr>
                </a:solidFill>
              </a:rPr>
              <a:t>Lunak</a:t>
            </a:r>
            <a:r>
              <a:rPr lang="en-ID" sz="1100" i="1" dirty="0">
                <a:solidFill>
                  <a:schemeClr val="bg1">
                    <a:lumMod val="65000"/>
                  </a:schemeClr>
                </a:solidFill>
              </a:rPr>
              <a:t> Jurusan Bisnis dan Informatika Politeknik Negeri Banyuwangi</a:t>
            </a:r>
            <a:endParaRPr lang="id-ID" sz="11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827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605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BB55A"/>
              </a:buClr>
              <a:buSzPts val="3000"/>
              <a:buNone/>
              <a:defRPr sz="3000">
                <a:solidFill>
                  <a:srgbClr val="EBB55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3515050" y="540000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20000" y="4341175"/>
            <a:ext cx="4908900" cy="22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2343300" y="2895900"/>
            <a:ext cx="44577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1609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rot="900108">
            <a:off x="7586327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55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37B7F"/>
              </a:buClr>
              <a:buSzPts val="3000"/>
              <a:buNone/>
              <a:defRPr sz="3000">
                <a:solidFill>
                  <a:srgbClr val="637B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1072413" y="2286900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2"/>
          </p:nvPr>
        </p:nvSpPr>
        <p:spPr>
          <a:xfrm>
            <a:off x="1072413" y="1969625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3"/>
          </p:nvPr>
        </p:nvSpPr>
        <p:spPr>
          <a:xfrm>
            <a:off x="1072413" y="3648975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4"/>
          </p:nvPr>
        </p:nvSpPr>
        <p:spPr>
          <a:xfrm>
            <a:off x="1072413" y="3331700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5"/>
          </p:nvPr>
        </p:nvSpPr>
        <p:spPr>
          <a:xfrm>
            <a:off x="3831785" y="2286900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6"/>
          </p:nvPr>
        </p:nvSpPr>
        <p:spPr>
          <a:xfrm>
            <a:off x="3831785" y="1969625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7"/>
          </p:nvPr>
        </p:nvSpPr>
        <p:spPr>
          <a:xfrm>
            <a:off x="3831785" y="3648975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ubTitle" idx="8"/>
          </p:nvPr>
        </p:nvSpPr>
        <p:spPr>
          <a:xfrm>
            <a:off x="3831785" y="3331700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9"/>
          </p:nvPr>
        </p:nvSpPr>
        <p:spPr>
          <a:xfrm>
            <a:off x="6591160" y="2286900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13"/>
          </p:nvPr>
        </p:nvSpPr>
        <p:spPr>
          <a:xfrm>
            <a:off x="6591160" y="1969625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4"/>
          </p:nvPr>
        </p:nvSpPr>
        <p:spPr>
          <a:xfrm>
            <a:off x="6591160" y="3648975"/>
            <a:ext cx="15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5"/>
          </p:nvPr>
        </p:nvSpPr>
        <p:spPr>
          <a:xfrm>
            <a:off x="6591160" y="3331700"/>
            <a:ext cx="15852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515050" y="540000"/>
            <a:ext cx="4908900" cy="22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409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">
  <p:cSld name="Bullet point"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830800" y="1564700"/>
            <a:ext cx="34368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AutoNum type="arabicPeriod"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LcPeriod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395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192350" y="1286875"/>
            <a:ext cx="6759300" cy="31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-9387396">
            <a:off x="-70379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410375" y="540000"/>
            <a:ext cx="601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324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2206250" y="1877517"/>
            <a:ext cx="47373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003125" y="3059517"/>
            <a:ext cx="31428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/>
          <p:nvPr/>
        </p:nvSpPr>
        <p:spPr>
          <a:xfrm rot="9387396" flipH="1">
            <a:off x="7503726" y="-428829"/>
            <a:ext cx="1802529" cy="1802529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/>
          <p:nvPr/>
        </p:nvSpPr>
        <p:spPr>
          <a:xfrm rot="-900108" flipH="1">
            <a:off x="-152805" y="3667699"/>
            <a:ext cx="1802354" cy="1802354"/>
          </a:xfrm>
          <a:custGeom>
            <a:avLst/>
            <a:gdLst/>
            <a:ahLst/>
            <a:cxnLst/>
            <a:rect l="l" t="t" r="r" b="b"/>
            <a:pathLst>
              <a:path w="80403" h="80403" extrusionOk="0">
                <a:moveTo>
                  <a:pt x="80402" y="0"/>
                </a:moveTo>
                <a:cubicBezTo>
                  <a:pt x="36029" y="0"/>
                  <a:pt x="0" y="36095"/>
                  <a:pt x="0" y="80403"/>
                </a:cubicBezTo>
                <a:lnTo>
                  <a:pt x="30598" y="80403"/>
                </a:lnTo>
                <a:cubicBezTo>
                  <a:pt x="30598" y="52918"/>
                  <a:pt x="52983" y="30664"/>
                  <a:pt x="80402" y="30664"/>
                </a:cubicBezTo>
                <a:lnTo>
                  <a:pt x="804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563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/>
          <p:nvPr/>
        </p:nvSpPr>
        <p:spPr>
          <a:xfrm rot="10800000">
            <a:off x="7603425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xfrm>
            <a:off x="5686200" y="1518250"/>
            <a:ext cx="2737800" cy="16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9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6312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37B7F"/>
              </a:buClr>
              <a:buSzPts val="3000"/>
              <a:buNone/>
              <a:defRPr sz="3000">
                <a:solidFill>
                  <a:srgbClr val="637B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976600" y="2953650"/>
            <a:ext cx="228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748500" y="2953650"/>
            <a:ext cx="228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4867275" y="540000"/>
            <a:ext cx="3556800" cy="22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976925" y="2636375"/>
            <a:ext cx="22857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5748500" y="2636375"/>
            <a:ext cx="228570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 rot="10800000" flipH="1">
            <a:off x="0" y="3602975"/>
            <a:ext cx="1540587" cy="1540521"/>
          </a:xfrm>
          <a:custGeom>
            <a:avLst/>
            <a:gdLst/>
            <a:ahLst/>
            <a:cxnLst/>
            <a:rect l="l" t="t" r="r" b="b"/>
            <a:pathLst>
              <a:path w="23248" h="23247" extrusionOk="0">
                <a:moveTo>
                  <a:pt x="1" y="0"/>
                </a:moveTo>
                <a:lnTo>
                  <a:pt x="1" y="23247"/>
                </a:lnTo>
                <a:cubicBezTo>
                  <a:pt x="12783" y="23247"/>
                  <a:pt x="23247" y="12849"/>
                  <a:pt x="23247" y="0"/>
                </a:cubicBez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15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em Kufi"/>
              <a:buNone/>
              <a:defRPr sz="2800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●"/>
              <a:defRPr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9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em Kufi"/>
              <a:buNone/>
              <a:defRPr sz="2800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●"/>
              <a:defRPr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99652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ctrTitle"/>
          </p:nvPr>
        </p:nvSpPr>
        <p:spPr>
          <a:xfrm>
            <a:off x="1592850" y="2257100"/>
            <a:ext cx="5958300" cy="9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b="1"/>
              <a:t>ENCAPSULATION</a:t>
            </a:r>
            <a:endParaRPr b="1"/>
          </a:p>
        </p:txBody>
      </p:sp>
      <p:sp>
        <p:nvSpPr>
          <p:cNvPr id="189" name="Google Shape;189;p33"/>
          <p:cNvSpPr txBox="1">
            <a:spLocks noGrp="1"/>
          </p:cNvSpPr>
          <p:nvPr>
            <p:ph type="subTitle" idx="1"/>
          </p:nvPr>
        </p:nvSpPr>
        <p:spPr>
          <a:xfrm>
            <a:off x="1973766" y="1786700"/>
            <a:ext cx="5252224" cy="4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>
                <a:solidFill>
                  <a:schemeClr val="dk2"/>
                </a:solidFill>
              </a:rPr>
              <a:t>Matakuliah Pemrograman Berorientasi Objek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3"/>
          <p:cNvSpPr/>
          <p:nvPr/>
        </p:nvSpPr>
        <p:spPr>
          <a:xfrm rot="5400000">
            <a:off x="4558741" y="2409699"/>
            <a:ext cx="26525" cy="186767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84E2E"/>
                </a:solidFill>
              </a:rPr>
              <a:t>01</a:t>
            </a:r>
            <a:endParaRPr>
              <a:solidFill>
                <a:srgbClr val="D84E2E"/>
              </a:solidFill>
            </a:endParaRPr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837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2"/>
                </a:solidFill>
              </a:rPr>
              <a:t>KONSEP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4" name="Google Shape;224;p36"/>
          <p:cNvSpPr txBox="1">
            <a:spLocks noGrp="1"/>
          </p:cNvSpPr>
          <p:nvPr>
            <p:ph type="subTitle" idx="1"/>
          </p:nvPr>
        </p:nvSpPr>
        <p:spPr>
          <a:xfrm>
            <a:off x="2654600" y="2895900"/>
            <a:ext cx="38351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Bagaimana analogi konsep encapsulation dalam dunia nyata?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947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>
            <a:spLocks noGrp="1"/>
          </p:cNvSpPr>
          <p:nvPr>
            <p:ph type="title"/>
          </p:nvPr>
        </p:nvSpPr>
        <p:spPr>
          <a:xfrm>
            <a:off x="4137102" y="540000"/>
            <a:ext cx="42867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Contoh Kasus #1: Apoteker</a:t>
            </a:r>
            <a:endParaRPr/>
          </a:p>
        </p:txBody>
      </p:sp>
      <p:sp>
        <p:nvSpPr>
          <p:cNvPr id="435" name="Google Shape;435;p49"/>
          <p:cNvSpPr txBox="1">
            <a:spLocks noGrp="1"/>
          </p:cNvSpPr>
          <p:nvPr>
            <p:ph type="subTitle" idx="1"/>
          </p:nvPr>
        </p:nvSpPr>
        <p:spPr>
          <a:xfrm>
            <a:off x="723899" y="1237785"/>
            <a:ext cx="3770041" cy="2486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>
                <a:solidFill>
                  <a:srgbClr val="0070C0"/>
                </a:solidFill>
              </a:rPr>
              <a:t>Apoteker</a:t>
            </a:r>
            <a:r>
              <a:rPr lang="id-ID" sz="1600"/>
              <a:t> memiliki keahlian dalam </a:t>
            </a:r>
            <a:r>
              <a:rPr lang="id-ID" sz="1600">
                <a:solidFill>
                  <a:schemeClr val="accent4">
                    <a:lumMod val="75000"/>
                  </a:schemeClr>
                </a:solidFill>
              </a:rPr>
              <a:t>meracik obat</a:t>
            </a:r>
            <a:r>
              <a:rPr lang="id-ID" sz="1600"/>
              <a:t> sesuai resep yang dibuat oleh dokter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/>
              <a:t>Untuk mendapatkan obat, </a:t>
            </a:r>
            <a:r>
              <a:rPr lang="id-ID" sz="1600">
                <a:solidFill>
                  <a:srgbClr val="0070C0"/>
                </a:solidFill>
              </a:rPr>
              <a:t>p</a:t>
            </a:r>
            <a:r>
              <a:rPr sz="1600">
                <a:solidFill>
                  <a:srgbClr val="0070C0"/>
                </a:solidFill>
              </a:rPr>
              <a:t>asien</a:t>
            </a:r>
            <a:r>
              <a:rPr sz="1600"/>
              <a:t> hanya perlu </a:t>
            </a:r>
            <a:r>
              <a:rPr sz="1600">
                <a:solidFill>
                  <a:schemeClr val="accent4">
                    <a:lumMod val="75000"/>
                  </a:schemeClr>
                </a:solidFill>
              </a:rPr>
              <a:t>menunjukkan resep</a:t>
            </a:r>
            <a:r>
              <a:rPr sz="1600"/>
              <a:t> dari </a:t>
            </a:r>
            <a:r>
              <a:rPr sz="1600">
                <a:solidFill>
                  <a:srgbClr val="0070C0"/>
                </a:solidFill>
              </a:rPr>
              <a:t>dokter</a:t>
            </a:r>
            <a:r>
              <a:rPr sz="1600"/>
              <a:t> lalu menunggu </a:t>
            </a:r>
            <a:r>
              <a:rPr sz="1600">
                <a:solidFill>
                  <a:srgbClr val="0070C0"/>
                </a:solidFill>
              </a:rPr>
              <a:t>apoteker</a:t>
            </a:r>
            <a:r>
              <a:rPr sz="1600"/>
              <a:t> </a:t>
            </a:r>
            <a:r>
              <a:rPr sz="1600">
                <a:solidFill>
                  <a:schemeClr val="accent4">
                    <a:lumMod val="75000"/>
                  </a:schemeClr>
                </a:solidFill>
              </a:rPr>
              <a:t>meracik obat</a:t>
            </a:r>
            <a:r>
              <a:rPr sz="1600"/>
              <a:t> tersebut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/>
              <a:t>P</a:t>
            </a:r>
            <a:r>
              <a:rPr lang="x-none" sz="1600" b="1"/>
              <a:t>ada saat </a:t>
            </a:r>
            <a:r>
              <a:rPr lang="x-none" sz="1600" b="1">
                <a:solidFill>
                  <a:srgbClr val="0070C0"/>
                </a:solidFill>
              </a:rPr>
              <a:t>apoteker</a:t>
            </a:r>
            <a:r>
              <a:rPr lang="x-none" sz="1600" b="1"/>
              <a:t> </a:t>
            </a:r>
            <a:r>
              <a:rPr lang="x-none" sz="1600" b="1">
                <a:solidFill>
                  <a:schemeClr val="accent4">
                    <a:lumMod val="75000"/>
                  </a:schemeClr>
                </a:solidFill>
              </a:rPr>
              <a:t>meracik obat</a:t>
            </a:r>
            <a:r>
              <a:rPr lang="x-none" sz="1600" b="1"/>
              <a:t>, bolehkah </a:t>
            </a:r>
            <a:r>
              <a:rPr lang="x-none" sz="1600" b="1">
                <a:solidFill>
                  <a:srgbClr val="0070C0"/>
                </a:solidFill>
              </a:rPr>
              <a:t>pasien</a:t>
            </a:r>
            <a:r>
              <a:rPr lang="x-none" sz="1600" b="1"/>
              <a:t> </a:t>
            </a:r>
            <a:r>
              <a:rPr lang="x-none" sz="1600" b="1">
                <a:solidFill>
                  <a:schemeClr val="accent4">
                    <a:lumMod val="75000"/>
                  </a:schemeClr>
                </a:solidFill>
              </a:rPr>
              <a:t>ikut campur</a:t>
            </a:r>
            <a:r>
              <a:rPr lang="x-none" sz="1600" b="1"/>
              <a:t>?</a:t>
            </a:r>
            <a:endParaRPr sz="1600" b="1"/>
          </a:p>
        </p:txBody>
      </p:sp>
      <p:sp>
        <p:nvSpPr>
          <p:cNvPr id="437" name="Google Shape;437;p49"/>
          <p:cNvSpPr/>
          <p:nvPr/>
        </p:nvSpPr>
        <p:spPr>
          <a:xfrm rot="5400000">
            <a:off x="1434538" y="3209760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ttps://img.freepik.com/free-vector/online-pharmacy-landing-page-template_23-2148190288.jpg?size=626&amp;ext=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9" r="39958"/>
          <a:stretch/>
        </p:blipFill>
        <p:spPr bwMode="auto">
          <a:xfrm>
            <a:off x="5129524" y="1112700"/>
            <a:ext cx="4014476" cy="40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5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>
            <a:spLocks noGrp="1"/>
          </p:cNvSpPr>
          <p:nvPr>
            <p:ph type="title"/>
          </p:nvPr>
        </p:nvSpPr>
        <p:spPr>
          <a:xfrm>
            <a:off x="4159405" y="540000"/>
            <a:ext cx="42644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Contoh Kasus #2: Restoran</a:t>
            </a:r>
            <a:endParaRPr/>
          </a:p>
        </p:txBody>
      </p:sp>
      <p:sp>
        <p:nvSpPr>
          <p:cNvPr id="435" name="Google Shape;435;p49"/>
          <p:cNvSpPr txBox="1">
            <a:spLocks noGrp="1"/>
          </p:cNvSpPr>
          <p:nvPr>
            <p:ph type="subTitle" idx="1"/>
          </p:nvPr>
        </p:nvSpPr>
        <p:spPr>
          <a:xfrm>
            <a:off x="289933" y="1224210"/>
            <a:ext cx="4362526" cy="3448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/>
              <a:t>Saat pergi ke restoran, seorang </a:t>
            </a:r>
            <a:r>
              <a:rPr lang="id-ID" sz="1600" dirty="0">
                <a:solidFill>
                  <a:srgbClr val="0070C0"/>
                </a:solidFill>
              </a:rPr>
              <a:t>pelanggan</a:t>
            </a:r>
            <a:r>
              <a:rPr lang="id-ID" sz="1600" dirty="0"/>
              <a:t> akan </a:t>
            </a:r>
            <a:r>
              <a:rPr lang="id-ID" sz="1600" dirty="0">
                <a:solidFill>
                  <a:srgbClr val="C00000"/>
                </a:solidFill>
              </a:rPr>
              <a:t>memesan makanan</a:t>
            </a:r>
            <a:r>
              <a:rPr lang="id-ID" sz="1600" dirty="0"/>
              <a:t> melalui </a:t>
            </a:r>
            <a:r>
              <a:rPr lang="id-ID" sz="1600" dirty="0">
                <a:solidFill>
                  <a:srgbClr val="0070C0"/>
                </a:solidFill>
              </a:rPr>
              <a:t>pramusaji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rgbClr val="0070C0"/>
                </a:solidFill>
              </a:rPr>
              <a:t>Pramusaji</a:t>
            </a:r>
            <a:r>
              <a:rPr lang="id-ID" sz="1600" dirty="0"/>
              <a:t> kemudian </a:t>
            </a:r>
            <a:r>
              <a:rPr lang="id-ID" sz="1600" dirty="0">
                <a:solidFill>
                  <a:srgbClr val="C00000"/>
                </a:solidFill>
              </a:rPr>
              <a:t>membawa catatan pesanan</a:t>
            </a:r>
            <a:r>
              <a:rPr lang="id-ID" sz="1600" dirty="0"/>
              <a:t> ke dapur untuk diberikan kepada </a:t>
            </a:r>
            <a:r>
              <a:rPr lang="id-ID" sz="1600" dirty="0">
                <a:solidFill>
                  <a:srgbClr val="0070C0"/>
                </a:solidFill>
              </a:rPr>
              <a:t>koki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rgbClr val="0070C0"/>
                </a:solidFill>
              </a:rPr>
              <a:t>Koki</a:t>
            </a:r>
            <a:r>
              <a:rPr lang="id-ID" sz="1600" dirty="0"/>
              <a:t> </a:t>
            </a:r>
            <a:r>
              <a:rPr lang="id-ID" sz="1600" dirty="0">
                <a:solidFill>
                  <a:srgbClr val="C00000"/>
                </a:solidFill>
              </a:rPr>
              <a:t>memasak makanan</a:t>
            </a:r>
            <a:r>
              <a:rPr lang="id-ID" sz="1600" dirty="0"/>
              <a:t> yang dipesan oleh </a:t>
            </a:r>
            <a:r>
              <a:rPr lang="id-ID" sz="1600" dirty="0">
                <a:solidFill>
                  <a:srgbClr val="0070C0"/>
                </a:solidFill>
              </a:rPr>
              <a:t>pelanggan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dirty="0"/>
              <a:t>Makanan yang sudah siap, dibawa dan </a:t>
            </a:r>
            <a:r>
              <a:rPr lang="id-ID" sz="1600" dirty="0">
                <a:solidFill>
                  <a:srgbClr val="C00000"/>
                </a:solidFill>
              </a:rPr>
              <a:t>dihidangkan</a:t>
            </a:r>
            <a:r>
              <a:rPr lang="id-ID" sz="1600" dirty="0"/>
              <a:t> kepada </a:t>
            </a:r>
            <a:r>
              <a:rPr lang="id-ID" sz="1600" dirty="0">
                <a:solidFill>
                  <a:srgbClr val="0070C0"/>
                </a:solidFill>
              </a:rPr>
              <a:t>pelanggan</a:t>
            </a:r>
            <a:r>
              <a:rPr lang="id-ID" sz="1600" dirty="0"/>
              <a:t> oleh </a:t>
            </a:r>
            <a:r>
              <a:rPr lang="id-ID" sz="1600" dirty="0">
                <a:solidFill>
                  <a:srgbClr val="0070C0"/>
                </a:solidFill>
              </a:rPr>
              <a:t>pramusaji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d-ID" sz="1600" b="1" dirty="0"/>
              <a:t>Bolehkah </a:t>
            </a:r>
            <a:r>
              <a:rPr lang="id-ID" sz="1600" b="1" dirty="0">
                <a:solidFill>
                  <a:srgbClr val="0070C0"/>
                </a:solidFill>
              </a:rPr>
              <a:t>pelanggan</a:t>
            </a:r>
            <a:r>
              <a:rPr lang="id-ID" sz="1600" b="1" dirty="0"/>
              <a:t> </a:t>
            </a:r>
            <a:r>
              <a:rPr lang="id-ID" sz="1600" b="1" dirty="0">
                <a:solidFill>
                  <a:srgbClr val="C00000"/>
                </a:solidFill>
              </a:rPr>
              <a:t>memasak sendiri </a:t>
            </a:r>
            <a:r>
              <a:rPr lang="id-ID" sz="1600" b="1" dirty="0"/>
              <a:t>makanan yang ia pesan di dapur restoran?</a:t>
            </a:r>
            <a:endParaRPr sz="1600" b="1" dirty="0"/>
          </a:p>
        </p:txBody>
      </p:sp>
      <p:sp>
        <p:nvSpPr>
          <p:cNvPr id="437" name="Google Shape;437;p49"/>
          <p:cNvSpPr/>
          <p:nvPr/>
        </p:nvSpPr>
        <p:spPr>
          <a:xfrm rot="5400000">
            <a:off x="1286983" y="4078236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People in restaurant set with administrator chef cook waiter waitress bartender critic and customers isolated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0" t="65411" r="72147"/>
          <a:stretch/>
        </p:blipFill>
        <p:spPr bwMode="auto">
          <a:xfrm>
            <a:off x="4652459" y="1857419"/>
            <a:ext cx="1331089" cy="206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eople in restaurant set with administrator chef cook waiter waitress bartender critic and customers isolated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6" t="35019" r="35657" b="33562"/>
          <a:stretch/>
        </p:blipFill>
        <p:spPr bwMode="auto">
          <a:xfrm>
            <a:off x="5856226" y="1981719"/>
            <a:ext cx="1694985" cy="1873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eople in restaurant set with administrator chef cook waiter waitress bartender critic and customers isolated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35546" r="73952" b="33978"/>
          <a:stretch/>
        </p:blipFill>
        <p:spPr bwMode="auto">
          <a:xfrm>
            <a:off x="7551211" y="1980026"/>
            <a:ext cx="1203767" cy="181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6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/>
          <p:nvPr/>
        </p:nvSpPr>
        <p:spPr>
          <a:xfrm rot="5400000">
            <a:off x="4558738" y="1137842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2206250" y="1877517"/>
            <a:ext cx="47373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Beberapa hal sifatnya </a:t>
            </a:r>
            <a:r>
              <a:rPr lang="id-ID">
                <a:solidFill>
                  <a:schemeClr val="accent4">
                    <a:lumMod val="75000"/>
                  </a:schemeClr>
                </a:solidFill>
              </a:rPr>
              <a:t>terbatas</a:t>
            </a:r>
            <a:r>
              <a:rPr lang="id-ID"/>
              <a:t>, tidak boleh dilakukan secara sembarangan untuk </a:t>
            </a:r>
            <a:r>
              <a:rPr lang="id-ID">
                <a:solidFill>
                  <a:schemeClr val="accent4">
                    <a:lumMod val="75000"/>
                  </a:schemeClr>
                </a:solidFill>
              </a:rPr>
              <a:t>menghindari</a:t>
            </a:r>
            <a:r>
              <a:rPr lang="id-ID"/>
              <a:t> </a:t>
            </a:r>
            <a:r>
              <a:rPr lang="id-ID">
                <a:solidFill>
                  <a:srgbClr val="C00000"/>
                </a:solidFill>
              </a:rPr>
              <a:t>kesalahan</a:t>
            </a:r>
            <a:endParaRPr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40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8"/>
          <p:cNvSpPr txBox="1">
            <a:spLocks noGrp="1"/>
          </p:cNvSpPr>
          <p:nvPr>
            <p:ph type="title"/>
          </p:nvPr>
        </p:nvSpPr>
        <p:spPr>
          <a:xfrm>
            <a:off x="2018371" y="540000"/>
            <a:ext cx="64056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Pembatasan Akses dengan Enkapsulasi</a:t>
            </a:r>
            <a:endParaRPr/>
          </a:p>
        </p:txBody>
      </p:sp>
      <p:sp>
        <p:nvSpPr>
          <p:cNvPr id="622" name="Google Shape;622;p58"/>
          <p:cNvSpPr txBox="1">
            <a:spLocks noGrp="1"/>
          </p:cNvSpPr>
          <p:nvPr>
            <p:ph type="subTitle" idx="1"/>
          </p:nvPr>
        </p:nvSpPr>
        <p:spPr>
          <a:xfrm>
            <a:off x="4360127" y="1293540"/>
            <a:ext cx="4063873" cy="3311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800">
                <a:solidFill>
                  <a:srgbClr val="C00000"/>
                </a:solidFill>
              </a:rPr>
              <a:t>E</a:t>
            </a:r>
            <a:r>
              <a:rPr sz="1800">
                <a:solidFill>
                  <a:srgbClr val="C00000"/>
                </a:solidFill>
              </a:rPr>
              <a:t>nkapsulasi</a:t>
            </a:r>
            <a:r>
              <a:rPr sz="1800"/>
              <a:t> = pengkapsulan; pembungkusan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800">
                <a:solidFill>
                  <a:srgbClr val="C00000"/>
                </a:solidFill>
              </a:rPr>
              <a:t>P</a:t>
            </a:r>
            <a:r>
              <a:rPr sz="1800">
                <a:solidFill>
                  <a:srgbClr val="C00000"/>
                </a:solidFill>
              </a:rPr>
              <a:t>embatasan hak akses</a:t>
            </a:r>
            <a:r>
              <a:rPr sz="1800"/>
              <a:t> terhadap properti maupun method suatu class</a:t>
            </a:r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SzPts val="1100"/>
              <a:buFont typeface="Arial" panose="020B0604020202020204" pitchFamily="34" charset="0"/>
              <a:buChar char="•"/>
            </a:pPr>
            <a:r>
              <a:rPr lang="id-ID" sz="1600"/>
              <a:t>Properti tidak dapat secara leluasa diubah atau dibaca nilainya</a:t>
            </a:r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SzPts val="1100"/>
              <a:buFont typeface="Arial" panose="020B0604020202020204" pitchFamily="34" charset="0"/>
              <a:buChar char="•"/>
            </a:pPr>
            <a:r>
              <a:rPr lang="id-ID" sz="1600"/>
              <a:t>Tidak sembarang method dapat digunakan oleh sembarang objek</a:t>
            </a:r>
            <a:endParaRPr sz="1800"/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id-ID" sz="1800">
                <a:solidFill>
                  <a:srgbClr val="C00000"/>
                </a:solidFill>
              </a:rPr>
              <a:t>F</a:t>
            </a:r>
            <a:r>
              <a:rPr lang="x-none" sz="1800">
                <a:solidFill>
                  <a:srgbClr val="C00000"/>
                </a:solidFill>
              </a:rPr>
              <a:t>ilterisasi</a:t>
            </a:r>
            <a:r>
              <a:rPr lang="x-none" sz="1800"/>
              <a:t> &amp; </a:t>
            </a:r>
            <a:r>
              <a:rPr lang="x-none" sz="1800">
                <a:solidFill>
                  <a:srgbClr val="C00000"/>
                </a:solidFill>
              </a:rPr>
              <a:t>validasi</a:t>
            </a:r>
            <a:endParaRPr sz="1800">
              <a:solidFill>
                <a:srgbClr val="C00000"/>
              </a:solidFill>
            </a:endParaRPr>
          </a:p>
        </p:txBody>
      </p:sp>
      <p:pic>
        <p:nvPicPr>
          <p:cNvPr id="3074" name="Picture 2" descr="Medicine Capsule Royalty Free Vector Image - Vecto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2" b="25974"/>
          <a:stretch/>
        </p:blipFill>
        <p:spPr bwMode="auto">
          <a:xfrm>
            <a:off x="467811" y="1999599"/>
            <a:ext cx="3145184" cy="140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71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781075" y="1635450"/>
            <a:ext cx="1714500" cy="9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84E2E"/>
                </a:solidFill>
              </a:rPr>
              <a:t>0</a:t>
            </a:r>
            <a:r>
              <a:rPr lang="id-ID">
                <a:solidFill>
                  <a:srgbClr val="D84E2E"/>
                </a:solidFill>
              </a:rPr>
              <a:t>2</a:t>
            </a:r>
            <a:endParaRPr>
              <a:solidFill>
                <a:srgbClr val="D84E2E"/>
              </a:solidFill>
            </a:endParaRPr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2"/>
          </p:nvPr>
        </p:nvSpPr>
        <p:spPr>
          <a:xfrm>
            <a:off x="2343300" y="2406625"/>
            <a:ext cx="4457700" cy="609600"/>
          </a:xfrm>
          <a:prstGeom prst="rect">
            <a:avLst/>
          </a:prstGeom>
        </p:spPr>
        <p:txBody>
          <a:bodyPr spcFirstLastPara="1" wrap="square" lIns="91425" tIns="91425" rIns="8377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lt2"/>
                </a:solidFill>
              </a:rPr>
              <a:t>IMPLEMENTASI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4" name="Google Shape;224;p36"/>
          <p:cNvSpPr txBox="1">
            <a:spLocks noGrp="1"/>
          </p:cNvSpPr>
          <p:nvPr>
            <p:ph type="subTitle" idx="1"/>
          </p:nvPr>
        </p:nvSpPr>
        <p:spPr>
          <a:xfrm>
            <a:off x="2502200" y="2895900"/>
            <a:ext cx="41399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Bagaimana cara menerapkan encapsulation ke dalam kode program?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8751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F9CF9-C403-77E3-E108-F24056D4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Contoh Kasus</a:t>
            </a:r>
            <a:endParaRPr lang="id-ID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95ECC68-015F-6A3E-DB8D-DB96CED66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461" y="1112700"/>
            <a:ext cx="4023364" cy="919300"/>
          </a:xfrm>
        </p:spPr>
        <p:txBody>
          <a:bodyPr/>
          <a:lstStyle/>
          <a:p>
            <a:pPr marL="0" indent="0"/>
            <a:r>
              <a:rPr lang="en-ID" dirty="0" err="1"/>
              <a:t>Buatlah</a:t>
            </a:r>
            <a:r>
              <a:rPr lang="en-ID" dirty="0"/>
              <a:t> sebuah objek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pria</a:t>
            </a:r>
            <a:r>
              <a:rPr lang="en-ID" dirty="0"/>
              <a:t> </a:t>
            </a:r>
            <a:r>
              <a:rPr lang="en-ID" dirty="0" err="1"/>
              <a:t>bernama</a:t>
            </a:r>
            <a:r>
              <a:rPr lang="en-ID" dirty="0"/>
              <a:t> Farhan kemudian </a:t>
            </a:r>
            <a:r>
              <a:rPr lang="en-ID" dirty="0" err="1"/>
              <a:t>tunjukkan</a:t>
            </a:r>
            <a:r>
              <a:rPr lang="en-ID" dirty="0"/>
              <a:t> aktivitas berjalan dan </a:t>
            </a:r>
            <a:r>
              <a:rPr lang="en-ID" dirty="0" err="1"/>
              <a:t>berlarinya</a:t>
            </a:r>
            <a:r>
              <a:rPr lang="en-ID" dirty="0"/>
              <a:t>!</a:t>
            </a:r>
            <a:endParaRPr lang="id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BC9B8-AC5C-C698-E4FF-CE98D5010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11"/>
            <a:ext cx="4289778" cy="5149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73568-0400-4E16-AA8E-A358AA9D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080" y="2359378"/>
            <a:ext cx="4660919" cy="27841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7C16A2-F7EF-B7EA-89D2-CAE83C1D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143" y="2041172"/>
            <a:ext cx="2641623" cy="70535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874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1A70EA-545C-EDEF-119E-BFF9A6E6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Tapi bagaimana jika...</a:t>
            </a:r>
            <a:endParaRPr lang="id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3B57CC-2C75-FA2D-A903-3D301B1BE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0000" y="1112700"/>
            <a:ext cx="4722948" cy="279325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9F563C-ABC1-FE09-BEF9-DC46755C9918}"/>
              </a:ext>
            </a:extLst>
          </p:cNvPr>
          <p:cNvSpPr/>
          <p:nvPr/>
        </p:nvSpPr>
        <p:spPr>
          <a:xfrm>
            <a:off x="1015999" y="2813888"/>
            <a:ext cx="2472267" cy="3048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78F77-AE87-770A-FF01-8FEA11C7F347}"/>
              </a:ext>
            </a:extLst>
          </p:cNvPr>
          <p:cNvSpPr txBox="1"/>
          <p:nvPr/>
        </p:nvSpPr>
        <p:spPr>
          <a:xfrm>
            <a:off x="5759388" y="1112700"/>
            <a:ext cx="2664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Terjadi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intervensi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mengubah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properti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jenis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kelamin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objek</a:t>
            </a:r>
            <a:endParaRPr lang="id-ID" sz="1600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D34A81F-0D12-18F1-4EA6-40EF4445B2E9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3488266" y="1528199"/>
            <a:ext cx="2271122" cy="1438089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DDAFB68-1888-BAD4-4505-21819D3B6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88" y="2757443"/>
            <a:ext cx="3132773" cy="919401"/>
          </a:xfrm>
          <a:prstGeom prst="rect">
            <a:avLst/>
          </a:prstGeom>
        </p:spPr>
      </p:pic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69AC0EC-5F38-4C2A-1CE8-B8E0CC9D52E0}"/>
              </a:ext>
            </a:extLst>
          </p:cNvPr>
          <p:cNvCxnSpPr>
            <a:stCxn id="12" idx="2"/>
            <a:endCxn id="18" idx="0"/>
          </p:cNvCxnSpPr>
          <p:nvPr/>
        </p:nvCxnSpPr>
        <p:spPr>
          <a:xfrm rot="16200000" flipH="1">
            <a:off x="6801861" y="2233529"/>
            <a:ext cx="813746" cy="234081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04A102-7D16-A792-32CD-100EEA6C18D4}"/>
              </a:ext>
            </a:extLst>
          </p:cNvPr>
          <p:cNvSpPr txBox="1"/>
          <p:nvPr/>
        </p:nvSpPr>
        <p:spPr>
          <a:xfrm>
            <a:off x="5759387" y="3817183"/>
            <a:ext cx="3132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Panggilan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terhadap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objek pun tidak sesuai dengan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inisiasi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awalnya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sebagai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seorang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pria</a:t>
            </a:r>
            <a:endParaRPr lang="id-ID" sz="1600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2690DC-0E5F-BB5B-C406-4D505E69DFEB}"/>
              </a:ext>
            </a:extLst>
          </p:cNvPr>
          <p:cNvSpPr/>
          <p:nvPr/>
        </p:nvSpPr>
        <p:spPr>
          <a:xfrm>
            <a:off x="5675842" y="3036277"/>
            <a:ext cx="478773" cy="63869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424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4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0766AB-80F5-1D3C-5E3E-48A994BE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Analisis Kasus</a:t>
            </a:r>
            <a:endParaRPr lang="id-ID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A0B26DE-8A14-61CE-53E8-47E6143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0800" y="1196622"/>
            <a:ext cx="3436800" cy="3406878"/>
          </a:xfrm>
        </p:spPr>
        <p:txBody>
          <a:bodyPr/>
          <a:lstStyle/>
          <a:p>
            <a:pPr marL="18000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dirty="0"/>
              <a:t>Semua </a:t>
            </a:r>
            <a:r>
              <a:rPr lang="en-ID" dirty="0" err="1"/>
              <a:t>properti</a:t>
            </a:r>
            <a:r>
              <a:rPr lang="en-ID" dirty="0"/>
              <a:t> maupun method yang </a:t>
            </a:r>
            <a:r>
              <a:rPr lang="en-ID" dirty="0" err="1"/>
              <a:t>dideklarasikan</a:t>
            </a:r>
            <a:r>
              <a:rPr lang="en-ID" dirty="0"/>
              <a:t> pada class Manusia secara default </a:t>
            </a:r>
            <a:r>
              <a:rPr lang="en-ID" dirty="0">
                <a:solidFill>
                  <a:schemeClr val="accent4"/>
                </a:solidFill>
              </a:rPr>
              <a:t>dapat diakses dari luar class</a:t>
            </a:r>
            <a:r>
              <a:rPr lang="en-ID" dirty="0"/>
              <a:t> / oleh objek yang </a:t>
            </a:r>
            <a:r>
              <a:rPr lang="en-ID" dirty="0" err="1"/>
              <a:t>diinstansiasi</a:t>
            </a:r>
            <a:r>
              <a:rPr lang="en-ID" dirty="0"/>
              <a:t> dari class tersebut.</a:t>
            </a:r>
          </a:p>
          <a:p>
            <a:pPr marL="18000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dirty="0"/>
              <a:t>Tidak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>
                <a:solidFill>
                  <a:schemeClr val="accent4"/>
                </a:solidFill>
              </a:rPr>
              <a:t>pembatasan</a:t>
            </a:r>
            <a:r>
              <a:rPr lang="en-ID" dirty="0">
                <a:solidFill>
                  <a:schemeClr val="accent4"/>
                </a:solidFill>
              </a:rPr>
              <a:t> </a:t>
            </a:r>
            <a:r>
              <a:rPr lang="en-ID" dirty="0" err="1">
                <a:solidFill>
                  <a:schemeClr val="accent4"/>
                </a:solidFill>
              </a:rPr>
              <a:t>akses</a:t>
            </a:r>
            <a:r>
              <a:rPr lang="en-ID" dirty="0">
                <a:solidFill>
                  <a:schemeClr val="accent4"/>
                </a:solidFill>
              </a:rPr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properti</a:t>
            </a:r>
            <a:r>
              <a:rPr lang="en-ID" dirty="0"/>
              <a:t> maupun method yang berpotensi </a:t>
            </a:r>
            <a:r>
              <a:rPr lang="en-ID" dirty="0" err="1"/>
              <a:t>merusak</a:t>
            </a:r>
            <a:r>
              <a:rPr lang="en-ID" dirty="0"/>
              <a:t> logic </a:t>
            </a:r>
            <a:r>
              <a:rPr lang="en-ID" dirty="0" err="1"/>
              <a:t>implementasi</a:t>
            </a:r>
            <a:r>
              <a:rPr lang="en-ID" dirty="0"/>
              <a:t> program.</a:t>
            </a:r>
          </a:p>
          <a:p>
            <a:pPr marL="18000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dirty="0"/>
              <a:t>Perlu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>
                <a:solidFill>
                  <a:schemeClr val="accent4"/>
                </a:solidFill>
              </a:rPr>
              <a:t>enkapsulasi</a:t>
            </a:r>
            <a:r>
              <a:rPr lang="en-ID" dirty="0"/>
              <a:t> pada </a:t>
            </a:r>
            <a:r>
              <a:rPr lang="en-ID" dirty="0" err="1"/>
              <a:t>properti</a:t>
            </a:r>
            <a:r>
              <a:rPr lang="en-ID" dirty="0"/>
              <a:t> maupun method tersebut.</a:t>
            </a:r>
            <a:endParaRPr lang="id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F2CDB6-5F68-A6FF-799A-E8E2E74F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11"/>
            <a:ext cx="4289778" cy="514931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CD1843-93BA-F0DA-9533-A1735C06902F}"/>
              </a:ext>
            </a:extLst>
          </p:cNvPr>
          <p:cNvSpPr/>
          <p:nvPr/>
        </p:nvSpPr>
        <p:spPr>
          <a:xfrm>
            <a:off x="211015" y="832338"/>
            <a:ext cx="1500554" cy="18757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55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075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Encapsulation Modifiers</a:t>
            </a:r>
            <a:endParaRPr/>
          </a:p>
        </p:txBody>
      </p:sp>
      <p:sp>
        <p:nvSpPr>
          <p:cNvPr id="514" name="Google Shape;514;p53"/>
          <p:cNvSpPr txBox="1">
            <a:spLocks noGrp="1"/>
          </p:cNvSpPr>
          <p:nvPr>
            <p:ph type="title" idx="2"/>
          </p:nvPr>
        </p:nvSpPr>
        <p:spPr>
          <a:xfrm>
            <a:off x="720000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+</a:t>
            </a:r>
            <a:endParaRPr dirty="0"/>
          </a:p>
        </p:txBody>
      </p:sp>
      <p:sp>
        <p:nvSpPr>
          <p:cNvPr id="515" name="Google Shape;515;p53"/>
          <p:cNvSpPr txBox="1">
            <a:spLocks noGrp="1"/>
          </p:cNvSpPr>
          <p:nvPr>
            <p:ph type="subTitle" idx="1"/>
          </p:nvPr>
        </p:nvSpPr>
        <p:spPr>
          <a:xfrm>
            <a:off x="721345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public</a:t>
            </a:r>
            <a:endParaRPr/>
          </a:p>
        </p:txBody>
      </p:sp>
      <p:sp>
        <p:nvSpPr>
          <p:cNvPr id="516" name="Google Shape;516;p53"/>
          <p:cNvSpPr txBox="1">
            <a:spLocks noGrp="1"/>
          </p:cNvSpPr>
          <p:nvPr>
            <p:ph type="title" idx="3"/>
          </p:nvPr>
        </p:nvSpPr>
        <p:spPr>
          <a:xfrm>
            <a:off x="3578625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#</a:t>
            </a:r>
            <a:endParaRPr/>
          </a:p>
        </p:txBody>
      </p:sp>
      <p:sp>
        <p:nvSpPr>
          <p:cNvPr id="517" name="Google Shape;517;p53"/>
          <p:cNvSpPr txBox="1">
            <a:spLocks noGrp="1"/>
          </p:cNvSpPr>
          <p:nvPr>
            <p:ph type="subTitle" idx="4"/>
          </p:nvPr>
        </p:nvSpPr>
        <p:spPr>
          <a:xfrm>
            <a:off x="3579970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protected</a:t>
            </a:r>
            <a:endParaRPr/>
          </a:p>
        </p:txBody>
      </p:sp>
      <p:sp>
        <p:nvSpPr>
          <p:cNvPr id="518" name="Google Shape;518;p53"/>
          <p:cNvSpPr txBox="1">
            <a:spLocks noGrp="1"/>
          </p:cNvSpPr>
          <p:nvPr>
            <p:ph type="title" idx="5"/>
          </p:nvPr>
        </p:nvSpPr>
        <p:spPr>
          <a:xfrm>
            <a:off x="6437250" y="2014725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-</a:t>
            </a:r>
            <a:endParaRPr/>
          </a:p>
        </p:txBody>
      </p:sp>
      <p:sp>
        <p:nvSpPr>
          <p:cNvPr id="519" name="Google Shape;519;p53"/>
          <p:cNvSpPr txBox="1">
            <a:spLocks noGrp="1"/>
          </p:cNvSpPr>
          <p:nvPr>
            <p:ph type="subTitle" idx="6"/>
          </p:nvPr>
        </p:nvSpPr>
        <p:spPr>
          <a:xfrm>
            <a:off x="6438595" y="2786250"/>
            <a:ext cx="19854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d-ID"/>
              <a:t>private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114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" grpId="0"/>
      <p:bldP spid="515" grpId="0" build="p"/>
      <p:bldP spid="516" grpId="0"/>
      <p:bldP spid="517" grpId="0" build="p"/>
      <p:bldP spid="518" grpId="0"/>
      <p:bldP spid="5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4"/>
          <p:cNvSpPr txBox="1"/>
          <p:nvPr/>
        </p:nvSpPr>
        <p:spPr>
          <a:xfrm>
            <a:off x="2096769" y="1821366"/>
            <a:ext cx="1114662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Bebas dari mana saja</a:t>
            </a:r>
            <a:endParaRPr>
              <a:solidFill>
                <a:schemeClr val="accent1"/>
              </a:solidFill>
              <a:latin typeface="Reem Kufi"/>
              <a:ea typeface="Reem Kufi"/>
              <a:cs typeface="Reem Kufi"/>
              <a:sym typeface="Reem Kufi"/>
            </a:endParaRPr>
          </a:p>
        </p:txBody>
      </p:sp>
      <p:sp>
        <p:nvSpPr>
          <p:cNvPr id="525" name="Google Shape;525;p54"/>
          <p:cNvSpPr txBox="1"/>
          <p:nvPr/>
        </p:nvSpPr>
        <p:spPr>
          <a:xfrm>
            <a:off x="1960800" y="2886492"/>
            <a:ext cx="1386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Terbatas pada </a:t>
            </a:r>
            <a:r>
              <a:rPr lang="id-ID" dirty="0" err="1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class</a:t>
            </a:r>
            <a:r>
              <a:rPr lang="id-ID" dirty="0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 &amp; turunannya</a:t>
            </a:r>
            <a:endParaRPr dirty="0">
              <a:solidFill>
                <a:schemeClr val="accent1"/>
              </a:solidFill>
              <a:latin typeface="Reem Kufi"/>
              <a:ea typeface="Reem Kufi"/>
              <a:cs typeface="Reem Kufi"/>
              <a:sym typeface="Reem Kufi"/>
            </a:endParaRPr>
          </a:p>
        </p:txBody>
      </p:sp>
      <p:sp>
        <p:nvSpPr>
          <p:cNvPr id="526" name="Google Shape;526;p54"/>
          <p:cNvSpPr txBox="1"/>
          <p:nvPr/>
        </p:nvSpPr>
        <p:spPr>
          <a:xfrm>
            <a:off x="1960800" y="3951613"/>
            <a:ext cx="1386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Hanya di dalam </a:t>
            </a:r>
            <a:r>
              <a:rPr lang="id-ID" dirty="0" err="1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class</a:t>
            </a:r>
            <a:r>
              <a:rPr lang="id-ID" dirty="0">
                <a:solidFill>
                  <a:schemeClr val="accent1"/>
                </a:solidFill>
                <a:latin typeface="Reem Kufi"/>
                <a:ea typeface="Reem Kufi"/>
                <a:cs typeface="Reem Kufi"/>
                <a:sym typeface="Reem Kufi"/>
              </a:rPr>
              <a:t> itu sendiri</a:t>
            </a:r>
            <a:endParaRPr dirty="0">
              <a:solidFill>
                <a:schemeClr val="accent1"/>
              </a:solidFill>
              <a:latin typeface="Reem Kufi"/>
              <a:ea typeface="Reem Kufi"/>
              <a:cs typeface="Reem Kufi"/>
              <a:sym typeface="Reem Kufi"/>
            </a:endParaRPr>
          </a:p>
        </p:txBody>
      </p:sp>
      <p:sp>
        <p:nvSpPr>
          <p:cNvPr id="527" name="Google Shape;527;p54"/>
          <p:cNvSpPr txBox="1">
            <a:spLocks noGrp="1"/>
          </p:cNvSpPr>
          <p:nvPr>
            <p:ph type="title"/>
          </p:nvPr>
        </p:nvSpPr>
        <p:spPr>
          <a:xfrm>
            <a:off x="1394305" y="540000"/>
            <a:ext cx="70296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Perbandingan Cakupan Akses Tiap Modifier</a:t>
            </a:r>
            <a:endParaRPr/>
          </a:p>
        </p:txBody>
      </p:sp>
      <p:sp>
        <p:nvSpPr>
          <p:cNvPr id="533" name="Google Shape;533;p54"/>
          <p:cNvSpPr txBox="1"/>
          <p:nvPr/>
        </p:nvSpPr>
        <p:spPr>
          <a:xfrm>
            <a:off x="1960800" y="1561247"/>
            <a:ext cx="1386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PUBLIC</a:t>
            </a:r>
            <a:endParaRPr sz="16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34" name="Google Shape;534;p54"/>
          <p:cNvSpPr txBox="1"/>
          <p:nvPr/>
        </p:nvSpPr>
        <p:spPr>
          <a:xfrm>
            <a:off x="1960800" y="2626372"/>
            <a:ext cx="1386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PROTECTED</a:t>
            </a:r>
            <a:endParaRPr sz="16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1960800" y="3691509"/>
            <a:ext cx="1386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PRIVATE</a:t>
            </a:r>
            <a:endParaRPr sz="16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36" name="Google Shape;536;p54"/>
          <p:cNvSpPr/>
          <p:nvPr/>
        </p:nvSpPr>
        <p:spPr>
          <a:xfrm rot="5400000">
            <a:off x="1710933" y="1405405"/>
            <a:ext cx="15175" cy="73230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4"/>
          <p:cNvSpPr/>
          <p:nvPr/>
        </p:nvSpPr>
        <p:spPr>
          <a:xfrm rot="5400000">
            <a:off x="1710933" y="2466055"/>
            <a:ext cx="15175" cy="73230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4"/>
          <p:cNvSpPr/>
          <p:nvPr/>
        </p:nvSpPr>
        <p:spPr>
          <a:xfrm rot="5400000">
            <a:off x="1710933" y="3526705"/>
            <a:ext cx="15175" cy="732308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514;p53"/>
          <p:cNvSpPr txBox="1">
            <a:spLocks/>
          </p:cNvSpPr>
          <p:nvPr/>
        </p:nvSpPr>
        <p:spPr>
          <a:xfrm>
            <a:off x="225610" y="1300797"/>
            <a:ext cx="1126756" cy="13123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9600">
                <a:solidFill>
                  <a:srgbClr val="C00000"/>
                </a:solidFill>
                <a:latin typeface="Reem Kufi" panose="020B0604020202020204"/>
              </a:rPr>
              <a:t>+</a:t>
            </a:r>
          </a:p>
        </p:txBody>
      </p:sp>
      <p:sp>
        <p:nvSpPr>
          <p:cNvPr id="18" name="Google Shape;514;p53"/>
          <p:cNvSpPr txBox="1">
            <a:spLocks/>
          </p:cNvSpPr>
          <p:nvPr/>
        </p:nvSpPr>
        <p:spPr>
          <a:xfrm>
            <a:off x="222944" y="2256179"/>
            <a:ext cx="1126756" cy="13123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7200">
                <a:solidFill>
                  <a:srgbClr val="C00000"/>
                </a:solidFill>
                <a:latin typeface="Reem Kufi" panose="020B0604020202020204"/>
              </a:rPr>
              <a:t>#</a:t>
            </a:r>
          </a:p>
        </p:txBody>
      </p:sp>
      <p:sp>
        <p:nvSpPr>
          <p:cNvPr id="19" name="Google Shape;514;p53"/>
          <p:cNvSpPr txBox="1">
            <a:spLocks/>
          </p:cNvSpPr>
          <p:nvPr/>
        </p:nvSpPr>
        <p:spPr>
          <a:xfrm>
            <a:off x="230415" y="3301653"/>
            <a:ext cx="1126756" cy="13123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7200">
                <a:solidFill>
                  <a:srgbClr val="C00000"/>
                </a:solidFill>
                <a:latin typeface="Reem Kufi" panose="020B0604020202020204"/>
              </a:rPr>
              <a:t>-</a:t>
            </a:r>
          </a:p>
        </p:txBody>
      </p:sp>
      <p:graphicFrame>
        <p:nvGraphicFramePr>
          <p:cNvPr id="20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233981"/>
              </p:ext>
            </p:extLst>
          </p:nvPr>
        </p:nvGraphicFramePr>
        <p:xfrm>
          <a:off x="3958500" y="1620723"/>
          <a:ext cx="4768359" cy="2583304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374320">
                  <a:extLst>
                    <a:ext uri="{9D8B030D-6E8A-4147-A177-3AD203B41FA5}">
                      <a16:colId xmlns:a16="http://schemas.microsoft.com/office/drawing/2014/main" val="4126352338"/>
                    </a:ext>
                  </a:extLst>
                </a:gridCol>
                <a:gridCol w="1126073">
                  <a:extLst>
                    <a:ext uri="{9D8B030D-6E8A-4147-A177-3AD203B41FA5}">
                      <a16:colId xmlns:a16="http://schemas.microsoft.com/office/drawing/2014/main" val="558266049"/>
                    </a:ext>
                  </a:extLst>
                </a:gridCol>
                <a:gridCol w="1133983">
                  <a:extLst>
                    <a:ext uri="{9D8B030D-6E8A-4147-A177-3AD203B41FA5}">
                      <a16:colId xmlns:a16="http://schemas.microsoft.com/office/drawing/2014/main" val="3988253124"/>
                    </a:ext>
                  </a:extLst>
                </a:gridCol>
                <a:gridCol w="1133983">
                  <a:extLst>
                    <a:ext uri="{9D8B030D-6E8A-4147-A177-3AD203B41FA5}">
                      <a16:colId xmlns:a16="http://schemas.microsoft.com/office/drawing/2014/main" val="3749540408"/>
                    </a:ext>
                  </a:extLst>
                </a:gridCol>
              </a:tblGrid>
              <a:tr h="645826">
                <a:tc>
                  <a:txBody>
                    <a:bodyPr/>
                    <a:lstStyle/>
                    <a:p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Sumber akses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Public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Protected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Private</a:t>
                      </a:r>
                    </a:p>
                  </a:txBody>
                  <a:tcPr marL="102914" marR="102914" anchor="ctr"/>
                </a:tc>
                <a:extLst>
                  <a:ext uri="{0D108BD9-81ED-4DB2-BD59-A6C34878D82A}">
                    <a16:rowId xmlns:a16="http://schemas.microsoft.com/office/drawing/2014/main" val="1673064541"/>
                  </a:ext>
                </a:extLst>
              </a:tr>
              <a:tr h="645826">
                <a:tc>
                  <a:txBody>
                    <a:bodyPr/>
                    <a:lstStyle/>
                    <a:p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Dalam class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b="1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extLst>
                  <a:ext uri="{0D108BD9-81ED-4DB2-BD59-A6C34878D82A}">
                    <a16:rowId xmlns:a16="http://schemas.microsoft.com/office/drawing/2014/main" val="4250482613"/>
                  </a:ext>
                </a:extLst>
              </a:tr>
              <a:tr h="645826">
                <a:tc>
                  <a:txBody>
                    <a:bodyPr/>
                    <a:lstStyle/>
                    <a:p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Class turunan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b="1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X</a:t>
                      </a:r>
                      <a:endParaRPr lang="id-ID" sz="1600" b="1" dirty="0">
                        <a:solidFill>
                          <a:srgbClr val="FF000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extLst>
                  <a:ext uri="{0D108BD9-81ED-4DB2-BD59-A6C34878D82A}">
                    <a16:rowId xmlns:a16="http://schemas.microsoft.com/office/drawing/2014/main" val="2772381234"/>
                  </a:ext>
                </a:extLst>
              </a:tr>
              <a:tr h="645826">
                <a:tc>
                  <a:txBody>
                    <a:bodyPr/>
                    <a:lstStyle/>
                    <a:p>
                      <a:r>
                        <a:rPr lang="id-ID" sz="160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Luar class / objek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00B05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sym typeface="Symbol" panose="05050102010706020507" pitchFamily="18" charset="2"/>
                        </a:rPr>
                        <a:t></a:t>
                      </a:r>
                      <a:endParaRPr lang="id-ID" sz="1600" dirty="0">
                        <a:solidFill>
                          <a:srgbClr val="00B050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X</a:t>
                      </a:r>
                    </a:p>
                  </a:txBody>
                  <a:tcPr marL="102914" marR="10291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>
                          <a:solidFill>
                            <a:srgbClr val="FF0000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X</a:t>
                      </a:r>
                    </a:p>
                  </a:txBody>
                  <a:tcPr marL="102914" marR="102914" anchor="ctr"/>
                </a:tc>
                <a:extLst>
                  <a:ext uri="{0D108BD9-81ED-4DB2-BD59-A6C34878D82A}">
                    <a16:rowId xmlns:a16="http://schemas.microsoft.com/office/drawing/2014/main" val="596551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50E6D7-2533-C46E-2B86-D98A43A553D7}"/>
              </a:ext>
            </a:extLst>
          </p:cNvPr>
          <p:cNvSpPr txBox="1"/>
          <p:nvPr/>
        </p:nvSpPr>
        <p:spPr>
          <a:xfrm>
            <a:off x="3856900" y="4237102"/>
            <a:ext cx="36904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000" i="1" dirty="0"/>
              <a:t>*</a:t>
            </a:r>
            <a:r>
              <a:rPr lang="en-ID" sz="1000" i="1" dirty="0" err="1"/>
              <a:t>Konsep</a:t>
            </a:r>
            <a:r>
              <a:rPr lang="en-ID" sz="1000" i="1" dirty="0"/>
              <a:t> class </a:t>
            </a:r>
            <a:r>
              <a:rPr lang="en-ID" sz="1000" i="1" dirty="0" err="1"/>
              <a:t>turunan</a:t>
            </a:r>
            <a:r>
              <a:rPr lang="en-ID" sz="1000" i="1" dirty="0"/>
              <a:t> </a:t>
            </a:r>
            <a:r>
              <a:rPr lang="en-ID" sz="1000" i="1" dirty="0" err="1"/>
              <a:t>akan</a:t>
            </a:r>
            <a:r>
              <a:rPr lang="en-ID" sz="1000" i="1" dirty="0"/>
              <a:t> </a:t>
            </a:r>
            <a:r>
              <a:rPr lang="en-ID" sz="1000" i="1" dirty="0" err="1"/>
              <a:t>dipelajari</a:t>
            </a:r>
            <a:r>
              <a:rPr lang="en-ID" sz="1000" i="1" dirty="0"/>
              <a:t> pada materi </a:t>
            </a:r>
            <a:r>
              <a:rPr lang="en-ID" sz="1000" i="1" dirty="0">
                <a:solidFill>
                  <a:schemeClr val="accent4"/>
                </a:solidFill>
              </a:rPr>
              <a:t>Inheritance</a:t>
            </a:r>
            <a:endParaRPr lang="id-ID" sz="1000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97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" grpId="0"/>
      <p:bldP spid="525" grpId="0"/>
      <p:bldP spid="526" grpId="0"/>
      <p:bldP spid="533" grpId="0"/>
      <p:bldP spid="534" grpId="0"/>
      <p:bldP spid="535" grpId="0"/>
      <p:bldP spid="536" grpId="0" animBg="1"/>
      <p:bldP spid="537" grpId="0" animBg="1"/>
      <p:bldP spid="538" grpId="0" animBg="1"/>
      <p:bldP spid="17" grpId="0"/>
      <p:bldP spid="18" grpId="0"/>
      <p:bldP spid="19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2D9764-D78F-20C0-0BB0-A0E9DDA5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Encapsulation Modifier Pada Dart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3C757-66F1-18A5-E871-0279C6EC4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100" y="1276359"/>
            <a:ext cx="7047300" cy="1295391"/>
          </a:xfrm>
        </p:spPr>
        <p:txBody>
          <a:bodyPr/>
          <a:lstStyle/>
          <a:p>
            <a:r>
              <a:rPr lang="en-ID" dirty="0"/>
              <a:t>Dart tidak </a:t>
            </a:r>
            <a:r>
              <a:rPr lang="en-ID" dirty="0" err="1"/>
              <a:t>mendukung</a:t>
            </a:r>
            <a:r>
              <a:rPr lang="en-ID" dirty="0"/>
              <a:t> penggunaan keyword </a:t>
            </a:r>
            <a:r>
              <a:rPr lang="en-ID" dirty="0">
                <a:solidFill>
                  <a:schemeClr val="accent4"/>
                </a:solidFill>
              </a:rPr>
              <a:t>public</a:t>
            </a:r>
            <a:r>
              <a:rPr lang="en-ID" dirty="0"/>
              <a:t>, </a:t>
            </a:r>
            <a:r>
              <a:rPr lang="en-ID" dirty="0">
                <a:solidFill>
                  <a:schemeClr val="accent4"/>
                </a:solidFill>
              </a:rPr>
              <a:t>protected</a:t>
            </a:r>
            <a:r>
              <a:rPr lang="en-ID" dirty="0"/>
              <a:t>, maupun </a:t>
            </a:r>
            <a:r>
              <a:rPr lang="en-ID" dirty="0">
                <a:solidFill>
                  <a:schemeClr val="accent4"/>
                </a:solidFill>
              </a:rPr>
              <a:t>private</a:t>
            </a:r>
            <a:r>
              <a:rPr lang="en-ID" dirty="0"/>
              <a:t> untuk </a:t>
            </a: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enkapsulasi</a:t>
            </a:r>
            <a:endParaRPr lang="en-ID" dirty="0"/>
          </a:p>
          <a:p>
            <a:r>
              <a:rPr lang="en-ID" dirty="0"/>
              <a:t>Dart bahkan tidak </a:t>
            </a:r>
            <a:r>
              <a:rPr lang="en-ID" dirty="0" err="1"/>
              <a:t>mengenal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>
                <a:solidFill>
                  <a:schemeClr val="accent4"/>
                </a:solidFill>
              </a:rPr>
              <a:t>protected</a:t>
            </a:r>
            <a:r>
              <a:rPr lang="en-ID" dirty="0"/>
              <a:t>, hanya </a:t>
            </a:r>
            <a:r>
              <a:rPr lang="en-ID" dirty="0" err="1"/>
              <a:t>mengenal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>
                <a:solidFill>
                  <a:schemeClr val="accent4"/>
                </a:solidFill>
              </a:rPr>
              <a:t>public</a:t>
            </a:r>
            <a:r>
              <a:rPr lang="en-ID" dirty="0"/>
              <a:t> dan </a:t>
            </a:r>
            <a:r>
              <a:rPr lang="en-ID" dirty="0">
                <a:solidFill>
                  <a:schemeClr val="accent4"/>
                </a:solidFill>
              </a:rPr>
              <a:t>private</a:t>
            </a:r>
          </a:p>
        </p:txBody>
      </p:sp>
      <p:sp>
        <p:nvSpPr>
          <p:cNvPr id="11" name="Google Shape;514;p53">
            <a:extLst>
              <a:ext uri="{FF2B5EF4-FFF2-40B4-BE49-F238E27FC236}">
                <a16:creationId xmlns:a16="http://schemas.microsoft.com/office/drawing/2014/main" id="{3A04572D-CE4D-B711-7CD6-3F46D4D73A63}"/>
              </a:ext>
            </a:extLst>
          </p:cNvPr>
          <p:cNvSpPr txBox="1">
            <a:spLocks/>
          </p:cNvSpPr>
          <p:nvPr/>
        </p:nvSpPr>
        <p:spPr>
          <a:xfrm>
            <a:off x="720000" y="3132333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7200" dirty="0">
                <a:solidFill>
                  <a:schemeClr val="accent4"/>
                </a:solidFill>
                <a:latin typeface="Reem Kufi" pitchFamily="2"/>
              </a:rPr>
              <a:t>+</a:t>
            </a:r>
          </a:p>
        </p:txBody>
      </p:sp>
      <p:sp>
        <p:nvSpPr>
          <p:cNvPr id="12" name="Google Shape;516;p53">
            <a:extLst>
              <a:ext uri="{FF2B5EF4-FFF2-40B4-BE49-F238E27FC236}">
                <a16:creationId xmlns:a16="http://schemas.microsoft.com/office/drawing/2014/main" id="{DB73487B-F690-CD16-3732-9039A5F5F5CB}"/>
              </a:ext>
            </a:extLst>
          </p:cNvPr>
          <p:cNvSpPr txBox="1">
            <a:spLocks/>
          </p:cNvSpPr>
          <p:nvPr/>
        </p:nvSpPr>
        <p:spPr>
          <a:xfrm>
            <a:off x="3578625" y="3132333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7200">
                <a:solidFill>
                  <a:schemeClr val="accent4"/>
                </a:solidFill>
                <a:latin typeface="Reem Kufi" pitchFamily="2"/>
              </a:rPr>
              <a:t>#</a:t>
            </a:r>
          </a:p>
        </p:txBody>
      </p:sp>
      <p:sp>
        <p:nvSpPr>
          <p:cNvPr id="13" name="Google Shape;518;p53">
            <a:extLst>
              <a:ext uri="{FF2B5EF4-FFF2-40B4-BE49-F238E27FC236}">
                <a16:creationId xmlns:a16="http://schemas.microsoft.com/office/drawing/2014/main" id="{258FE176-D894-746D-A541-02008A1025AA}"/>
              </a:ext>
            </a:extLst>
          </p:cNvPr>
          <p:cNvSpPr txBox="1">
            <a:spLocks/>
          </p:cNvSpPr>
          <p:nvPr/>
        </p:nvSpPr>
        <p:spPr>
          <a:xfrm>
            <a:off x="6437250" y="3132333"/>
            <a:ext cx="1985400" cy="10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d-ID" sz="7200">
                <a:solidFill>
                  <a:schemeClr val="accent4"/>
                </a:solidFill>
                <a:latin typeface="Reem Kufi" pitchFamily="2"/>
              </a:rPr>
              <a:t>-</a:t>
            </a:r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EDF20C3-5301-B527-AA8D-4106DF8D0C86}"/>
              </a:ext>
            </a:extLst>
          </p:cNvPr>
          <p:cNvSpPr/>
          <p:nvPr/>
        </p:nvSpPr>
        <p:spPr>
          <a:xfrm>
            <a:off x="3493236" y="2365602"/>
            <a:ext cx="2156178" cy="2156178"/>
          </a:xfrm>
          <a:prstGeom prst="mathMultiply">
            <a:avLst/>
          </a:prstGeom>
          <a:solidFill>
            <a:srgbClr val="FF0000">
              <a:alpha val="7411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491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9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Private Property &amp; Method</a:t>
            </a:r>
            <a:endParaRPr dirty="0"/>
          </a:p>
        </p:txBody>
      </p:sp>
      <p:sp>
        <p:nvSpPr>
          <p:cNvPr id="443" name="Google Shape;443;p50"/>
          <p:cNvSpPr txBox="1">
            <a:spLocks noGrp="1"/>
          </p:cNvSpPr>
          <p:nvPr>
            <p:ph type="subTitle" idx="1"/>
          </p:nvPr>
        </p:nvSpPr>
        <p:spPr>
          <a:xfrm>
            <a:off x="4409955" y="1518249"/>
            <a:ext cx="4014046" cy="2903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Properti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maupun method yang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bersifat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4"/>
                </a:solidFill>
              </a:rPr>
              <a:t>private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ditandai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dengan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notasi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>
                <a:solidFill>
                  <a:schemeClr val="accent4"/>
                </a:solidFill>
              </a:rPr>
              <a:t>underscore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en-ID" b="1" dirty="0">
                <a:solidFill>
                  <a:schemeClr val="accent4"/>
                </a:solidFill>
              </a:rPr>
              <a:t>_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) di depan namanya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5" name="Google Shape;445;p50"/>
          <p:cNvSpPr/>
          <p:nvPr/>
        </p:nvSpPr>
        <p:spPr>
          <a:xfrm rot="5400000">
            <a:off x="7698538" y="764625"/>
            <a:ext cx="26525" cy="1264205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EAF68-45E5-A5D5-D1D7-47995931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1409990"/>
            <a:ext cx="3426830" cy="373351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C02132-FE00-4192-5846-09974AF56A91}"/>
              </a:ext>
            </a:extLst>
          </p:cNvPr>
          <p:cNvSpPr/>
          <p:nvPr/>
        </p:nvSpPr>
        <p:spPr>
          <a:xfrm>
            <a:off x="2144889" y="2571750"/>
            <a:ext cx="1862667" cy="31820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537FCB-01E5-7C79-7DBB-09C74D758986}"/>
              </a:ext>
            </a:extLst>
          </p:cNvPr>
          <p:cNvSpPr/>
          <p:nvPr/>
        </p:nvSpPr>
        <p:spPr>
          <a:xfrm>
            <a:off x="2144889" y="4063005"/>
            <a:ext cx="1862667" cy="31820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6255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>
            <a:spLocks noGrp="1"/>
          </p:cNvSpPr>
          <p:nvPr>
            <p:ph type="title"/>
          </p:nvPr>
        </p:nvSpPr>
        <p:spPr>
          <a:xfrm>
            <a:off x="2030740" y="145450"/>
            <a:ext cx="20462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Contoh</a:t>
            </a:r>
            <a:r>
              <a:rPr lang="en-ID" dirty="0"/>
              <a:t> &gt;&gt;&gt;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6BEB6-EF3B-D041-D5F7-0DD4E6716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58" y="0"/>
            <a:ext cx="4418842" cy="51435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1666F5-9B61-02DB-B7EA-2A1FBC7710DF}"/>
              </a:ext>
            </a:extLst>
          </p:cNvPr>
          <p:cNvSpPr/>
          <p:nvPr/>
        </p:nvSpPr>
        <p:spPr>
          <a:xfrm>
            <a:off x="5475111" y="699911"/>
            <a:ext cx="1016000" cy="32737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E6B60-A59A-8802-BB8D-DDFF2A9E6866}"/>
              </a:ext>
            </a:extLst>
          </p:cNvPr>
          <p:cNvSpPr txBox="1"/>
          <p:nvPr/>
        </p:nvSpPr>
        <p:spPr>
          <a:xfrm>
            <a:off x="709600" y="1343377"/>
            <a:ext cx="30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Properti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diubah menjadi </a:t>
            </a:r>
            <a:r>
              <a:rPr lang="en-ID" sz="16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dengan menambahkan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notasi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D" sz="16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underscore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di depan namanya</a:t>
            </a:r>
            <a:endParaRPr lang="id-ID" sz="1600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91657476-F77E-63B7-CD82-C755E368EA3A}"/>
              </a:ext>
            </a:extLst>
          </p:cNvPr>
          <p:cNvCxnSpPr>
            <a:stCxn id="4" idx="1"/>
            <a:endCxn id="7" idx="3"/>
          </p:cNvCxnSpPr>
          <p:nvPr/>
        </p:nvCxnSpPr>
        <p:spPr>
          <a:xfrm rot="10800000" flipV="1">
            <a:off x="3759201" y="863600"/>
            <a:ext cx="1715911" cy="895276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67BB2C-B3AA-E360-05D5-10EBED1CA194}"/>
              </a:ext>
            </a:extLst>
          </p:cNvPr>
          <p:cNvSpPr/>
          <p:nvPr/>
        </p:nvSpPr>
        <p:spPr>
          <a:xfrm>
            <a:off x="5429955" y="3321366"/>
            <a:ext cx="869245" cy="200767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1EF128-E5B0-5880-3BAF-242978D538F2}"/>
              </a:ext>
            </a:extLst>
          </p:cNvPr>
          <p:cNvSpPr txBox="1"/>
          <p:nvPr/>
        </p:nvSpPr>
        <p:spPr>
          <a:xfrm>
            <a:off x="709600" y="2590752"/>
            <a:ext cx="3173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Method yang ingin diubah menjadi </a:t>
            </a:r>
            <a:r>
              <a:rPr lang="en-ID" sz="16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juga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diperlakukan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dengan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cara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sama</a:t>
            </a:r>
            <a:endParaRPr lang="id-ID" sz="1600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799C39BB-2EC8-07CA-2595-A2C5E4A7234E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rot="10800000">
            <a:off x="3883379" y="3006252"/>
            <a:ext cx="1546577" cy="415499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2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2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2F3A41-8F4E-A0CA-CDDC-822975F7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556" y="540000"/>
            <a:ext cx="4416269" cy="572700"/>
          </a:xfrm>
        </p:spPr>
        <p:txBody>
          <a:bodyPr/>
          <a:lstStyle/>
          <a:p>
            <a:r>
              <a:rPr lang="en-ID" dirty="0"/>
              <a:t>Solusi Kasus Sebelumnya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F95DC-5261-7825-42AB-51FD1A55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292"/>
            <a:ext cx="4674666" cy="3871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F1812-29A9-ECA3-CE5A-2824466EF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894" y="1662543"/>
            <a:ext cx="5865591" cy="90920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0B28FD-C8E4-3DB4-511C-10AEC6F02091}"/>
              </a:ext>
            </a:extLst>
          </p:cNvPr>
          <p:cNvSpPr txBox="1"/>
          <p:nvPr/>
        </p:nvSpPr>
        <p:spPr>
          <a:xfrm>
            <a:off x="5023556" y="2706094"/>
            <a:ext cx="3400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Ketika suatu </a:t>
            </a:r>
            <a:r>
              <a:rPr lang="en-ID" sz="1600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 property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dipaksa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untuk diubah nilainya dari luar class, maka program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akan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ID" sz="1600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mengalami</a:t>
            </a:r>
            <a:r>
              <a:rPr lang="en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error</a:t>
            </a:r>
            <a:endParaRPr lang="id-ID" sz="1600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155E02-D614-F047-5FBF-D5CC22DFF125}"/>
              </a:ext>
            </a:extLst>
          </p:cNvPr>
          <p:cNvSpPr/>
          <p:nvPr/>
        </p:nvSpPr>
        <p:spPr>
          <a:xfrm>
            <a:off x="351692" y="3871208"/>
            <a:ext cx="2931202" cy="3491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425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1192350" y="1286875"/>
            <a:ext cx="6759300" cy="1411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id-ID" sz="1600" dirty="0"/>
              <a:t>P</a:t>
            </a:r>
            <a:r>
              <a:rPr sz="1600" dirty="0" err="1"/>
              <a:t>ada</a:t>
            </a:r>
            <a:r>
              <a:rPr sz="1600" dirty="0"/>
              <a:t> </a:t>
            </a:r>
            <a:r>
              <a:rPr sz="1600" dirty="0" err="1"/>
              <a:t>kasus</a:t>
            </a:r>
            <a:r>
              <a:rPr sz="1600" dirty="0"/>
              <a:t> </a:t>
            </a:r>
            <a:r>
              <a:rPr sz="1600" dirty="0" err="1"/>
              <a:t>tertentu</a:t>
            </a:r>
            <a:r>
              <a:rPr sz="1600" dirty="0"/>
              <a:t> </a:t>
            </a:r>
            <a:r>
              <a:rPr sz="1600" dirty="0" err="1"/>
              <a:t>beberapa</a:t>
            </a:r>
            <a:r>
              <a:rPr sz="1600" dirty="0"/>
              <a:t> </a:t>
            </a:r>
            <a:r>
              <a:rPr lang="en-ID" sz="1600" dirty="0">
                <a:solidFill>
                  <a:srgbClr val="0070C0"/>
                </a:solidFill>
              </a:rPr>
              <a:t>private </a:t>
            </a:r>
            <a:r>
              <a:rPr sz="1600" dirty="0" err="1">
                <a:solidFill>
                  <a:srgbClr val="0070C0"/>
                </a:solidFill>
              </a:rPr>
              <a:t>propert</a:t>
            </a:r>
            <a:r>
              <a:rPr lang="en-ID" sz="1600" dirty="0">
                <a:solidFill>
                  <a:srgbClr val="0070C0"/>
                </a:solidFill>
              </a:rPr>
              <a:t>y</a:t>
            </a:r>
            <a:r>
              <a:rPr sz="1600" dirty="0"/>
              <a:t> </a:t>
            </a:r>
            <a:r>
              <a:rPr lang="en-ID" sz="1600" dirty="0"/>
              <a:t>tetap </a:t>
            </a:r>
            <a:r>
              <a:rPr sz="1600" dirty="0"/>
              <a:t>butuh </a:t>
            </a:r>
            <a:r>
              <a:rPr lang="en-ID" sz="1600" dirty="0">
                <a:solidFill>
                  <a:schemeClr val="accent4">
                    <a:lumMod val="75000"/>
                  </a:schemeClr>
                </a:solidFill>
              </a:rPr>
              <a:t>dapat</a:t>
            </a:r>
            <a:r>
              <a:rPr lang="en-ID" sz="1600" dirty="0"/>
              <a:t> </a:t>
            </a:r>
            <a:r>
              <a:rPr sz="1600" dirty="0" err="1">
                <a:solidFill>
                  <a:schemeClr val="accent4">
                    <a:lumMod val="75000"/>
                  </a:schemeClr>
                </a:solidFill>
              </a:rPr>
              <a:t>diakses</a:t>
            </a:r>
            <a:r>
              <a:rPr sz="1600" dirty="0"/>
              <a:t> dari </a:t>
            </a:r>
            <a:r>
              <a:rPr sz="1600" dirty="0" err="1"/>
              <a:t>luar</a:t>
            </a:r>
            <a:r>
              <a:rPr sz="1600" dirty="0"/>
              <a:t> class</a:t>
            </a:r>
          </a:p>
          <a:p>
            <a:pPr marL="171450" indent="-171450">
              <a:spcAft>
                <a:spcPts val="1600"/>
              </a:spcAft>
            </a:pPr>
            <a:r>
              <a:rPr lang="id-ID" sz="1600" dirty="0"/>
              <a:t>U</a:t>
            </a:r>
            <a:r>
              <a:rPr lang="x-none" sz="1600" dirty="0"/>
              <a:t>ntuk “</a:t>
            </a:r>
            <a:r>
              <a:rPr lang="x-none" sz="1600" dirty="0">
                <a:solidFill>
                  <a:srgbClr val="0070C0"/>
                </a:solidFill>
              </a:rPr>
              <a:t>menerobos</a:t>
            </a:r>
            <a:r>
              <a:rPr lang="x-none" sz="1600" dirty="0"/>
              <a:t>” batasan yang telah dibuat, dibutuhkan sebu</a:t>
            </a:r>
            <a:r>
              <a:rPr lang="en-ID" sz="1600" dirty="0"/>
              <a:t>a</a:t>
            </a:r>
            <a:r>
              <a:rPr lang="x-none" sz="1600" dirty="0"/>
              <a:t>h</a:t>
            </a:r>
            <a:r>
              <a:rPr lang="en-ID" sz="1600" dirty="0"/>
              <a:t> </a:t>
            </a:r>
            <a:r>
              <a:rPr lang="en-ID" sz="1600" dirty="0">
                <a:solidFill>
                  <a:srgbClr val="C00000"/>
                </a:solidFill>
              </a:rPr>
              <a:t>mutator</a:t>
            </a:r>
            <a:r>
              <a:rPr lang="en-ID" sz="1600" dirty="0"/>
              <a:t> dan</a:t>
            </a:r>
            <a:r>
              <a:rPr lang="x-none" sz="1600" dirty="0"/>
              <a:t> </a:t>
            </a:r>
            <a:r>
              <a:rPr lang="x-none" sz="1600" dirty="0">
                <a:solidFill>
                  <a:srgbClr val="C00000"/>
                </a:solidFill>
              </a:rPr>
              <a:t>accessor</a:t>
            </a:r>
            <a:r>
              <a:rPr lang="x-none" sz="1600" dirty="0"/>
              <a:t>: </a:t>
            </a:r>
            <a:r>
              <a:rPr lang="x-none" sz="1600" b="1" dirty="0">
                <a:solidFill>
                  <a:schemeClr val="accent4">
                    <a:lumMod val="75000"/>
                  </a:schemeClr>
                </a:solidFill>
              </a:rPr>
              <a:t>setter</a:t>
            </a:r>
            <a:r>
              <a:rPr lang="x-none" sz="1600" dirty="0"/>
              <a:t> &amp; </a:t>
            </a:r>
            <a:r>
              <a:rPr lang="x-none" sz="1600" b="1" dirty="0">
                <a:solidFill>
                  <a:schemeClr val="accent4">
                    <a:lumMod val="75000"/>
                  </a:schemeClr>
                </a:solidFill>
              </a:rPr>
              <a:t>getter</a:t>
            </a:r>
          </a:p>
        </p:txBody>
      </p:sp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>
            <a:off x="2410375" y="540000"/>
            <a:ext cx="601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Setter &amp; Getter</a:t>
            </a:r>
            <a:endParaRPr/>
          </a:p>
        </p:txBody>
      </p:sp>
      <p:sp>
        <p:nvSpPr>
          <p:cNvPr id="4" name="Google Shape;307;p41"/>
          <p:cNvSpPr txBox="1">
            <a:spLocks/>
          </p:cNvSpPr>
          <p:nvPr/>
        </p:nvSpPr>
        <p:spPr>
          <a:xfrm>
            <a:off x="2132718" y="3343942"/>
            <a:ext cx="24169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●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●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●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285750" indent="-285750"/>
            <a:r>
              <a:rPr lang="id-ID" sz="16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Pengatur nilai properti</a:t>
            </a:r>
          </a:p>
          <a:p>
            <a:pPr marL="285750" indent="-285750"/>
            <a:r>
              <a:rPr lang="id-ID" sz="16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Keyword</a:t>
            </a:r>
            <a:r>
              <a:rPr lang="id-ID" sz="16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id-ID" sz="1600" b="1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</a:t>
            </a:r>
            <a:endParaRPr lang="en-US" sz="1600" b="1" dirty="0">
              <a:solidFill>
                <a:srgbClr val="C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Google Shape;308;p41"/>
          <p:cNvSpPr txBox="1">
            <a:spLocks/>
          </p:cNvSpPr>
          <p:nvPr/>
        </p:nvSpPr>
        <p:spPr>
          <a:xfrm>
            <a:off x="5904617" y="3343942"/>
            <a:ext cx="26149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Pengambil nilai properti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6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Keyword</a:t>
            </a:r>
            <a:r>
              <a:rPr lang="id-ID" sz="16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id-ID" sz="1600" b="1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get</a:t>
            </a:r>
            <a:endParaRPr lang="en-US" sz="1600" b="1" dirty="0">
              <a:solidFill>
                <a:srgbClr val="C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Google Shape;309;p41"/>
          <p:cNvSpPr/>
          <p:nvPr/>
        </p:nvSpPr>
        <p:spPr>
          <a:xfrm>
            <a:off x="1951743" y="3022066"/>
            <a:ext cx="26525" cy="933599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10;p41"/>
          <p:cNvSpPr/>
          <p:nvPr/>
        </p:nvSpPr>
        <p:spPr>
          <a:xfrm>
            <a:off x="5723643" y="3022066"/>
            <a:ext cx="26525" cy="933599"/>
          </a:xfrm>
          <a:custGeom>
            <a:avLst/>
            <a:gdLst/>
            <a:ahLst/>
            <a:cxnLst/>
            <a:rect l="l" t="t" r="r" b="b"/>
            <a:pathLst>
              <a:path w="1061" h="31989" extrusionOk="0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D84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11;p41"/>
          <p:cNvSpPr txBox="1">
            <a:spLocks/>
          </p:cNvSpPr>
          <p:nvPr/>
        </p:nvSpPr>
        <p:spPr>
          <a:xfrm>
            <a:off x="2133043" y="3026667"/>
            <a:ext cx="1019170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id-ID" sz="1800" dirty="0">
                <a:solidFill>
                  <a:schemeClr val="tx2"/>
                </a:solidFill>
                <a:latin typeface="Reem Kufi" panose="020B0604020202020204"/>
              </a:rPr>
              <a:t>SETTER</a:t>
            </a:r>
          </a:p>
        </p:txBody>
      </p:sp>
      <p:sp>
        <p:nvSpPr>
          <p:cNvPr id="9" name="Google Shape;312;p41"/>
          <p:cNvSpPr txBox="1">
            <a:spLocks/>
          </p:cNvSpPr>
          <p:nvPr/>
        </p:nvSpPr>
        <p:spPr>
          <a:xfrm>
            <a:off x="5904618" y="3026667"/>
            <a:ext cx="1019495" cy="3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id-ID" sz="1800">
                <a:solidFill>
                  <a:schemeClr val="tx2"/>
                </a:solidFill>
                <a:latin typeface="Reem Kufi" panose="020B0604020202020204"/>
              </a:rPr>
              <a:t>GETTER</a:t>
            </a:r>
          </a:p>
        </p:txBody>
      </p:sp>
      <p:grpSp>
        <p:nvGrpSpPr>
          <p:cNvPr id="18" name="Google Shape;10805;p77"/>
          <p:cNvGrpSpPr/>
          <p:nvPr/>
        </p:nvGrpSpPr>
        <p:grpSpPr>
          <a:xfrm>
            <a:off x="1381278" y="3300570"/>
            <a:ext cx="426462" cy="420796"/>
            <a:chOff x="-6713450" y="2397900"/>
            <a:chExt cx="295375" cy="291450"/>
          </a:xfrm>
          <a:solidFill>
            <a:schemeClr val="tx2"/>
          </a:solidFill>
        </p:grpSpPr>
        <p:sp>
          <p:nvSpPr>
            <p:cNvPr id="19" name="Google Shape;10806;p77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0" name="Google Shape;10807;p77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21" name="Google Shape;9941;p74"/>
          <p:cNvSpPr/>
          <p:nvPr/>
        </p:nvSpPr>
        <p:spPr>
          <a:xfrm>
            <a:off x="5108186" y="3300570"/>
            <a:ext cx="421051" cy="420796"/>
          </a:xfrm>
          <a:custGeom>
            <a:avLst/>
            <a:gdLst/>
            <a:ahLst/>
            <a:cxnLst/>
            <a:rect l="l" t="t" r="r" b="b"/>
            <a:pathLst>
              <a:path w="11752" h="11753" extrusionOk="0">
                <a:moveTo>
                  <a:pt x="9672" y="725"/>
                </a:moveTo>
                <a:lnTo>
                  <a:pt x="9672" y="4191"/>
                </a:lnTo>
                <a:cubicBezTo>
                  <a:pt x="9546" y="4160"/>
                  <a:pt x="9420" y="4160"/>
                  <a:pt x="9294" y="4160"/>
                </a:cubicBezTo>
                <a:cubicBezTo>
                  <a:pt x="9200" y="4160"/>
                  <a:pt x="9074" y="4191"/>
                  <a:pt x="8948" y="4223"/>
                </a:cubicBezTo>
                <a:lnTo>
                  <a:pt x="8948" y="3844"/>
                </a:lnTo>
                <a:cubicBezTo>
                  <a:pt x="8948" y="3277"/>
                  <a:pt x="8475" y="2805"/>
                  <a:pt x="7939" y="2805"/>
                </a:cubicBezTo>
                <a:cubicBezTo>
                  <a:pt x="7813" y="2805"/>
                  <a:pt x="7687" y="2836"/>
                  <a:pt x="7561" y="2836"/>
                </a:cubicBezTo>
                <a:lnTo>
                  <a:pt x="7561" y="2458"/>
                </a:lnTo>
                <a:cubicBezTo>
                  <a:pt x="7561" y="1891"/>
                  <a:pt x="7089" y="1419"/>
                  <a:pt x="6553" y="1419"/>
                </a:cubicBezTo>
                <a:cubicBezTo>
                  <a:pt x="6427" y="1419"/>
                  <a:pt x="6364" y="1419"/>
                  <a:pt x="6238" y="1482"/>
                </a:cubicBezTo>
                <a:cubicBezTo>
                  <a:pt x="6427" y="1041"/>
                  <a:pt x="6837" y="725"/>
                  <a:pt x="7246" y="725"/>
                </a:cubicBezTo>
                <a:close/>
                <a:moveTo>
                  <a:pt x="11090" y="1419"/>
                </a:moveTo>
                <a:lnTo>
                  <a:pt x="11090" y="4884"/>
                </a:lnTo>
                <a:cubicBezTo>
                  <a:pt x="10964" y="4853"/>
                  <a:pt x="10838" y="4853"/>
                  <a:pt x="10712" y="4853"/>
                </a:cubicBezTo>
                <a:cubicBezTo>
                  <a:pt x="10617" y="4853"/>
                  <a:pt x="10491" y="4884"/>
                  <a:pt x="10365" y="4884"/>
                </a:cubicBezTo>
                <a:lnTo>
                  <a:pt x="10365" y="1419"/>
                </a:lnTo>
                <a:close/>
                <a:moveTo>
                  <a:pt x="4537" y="725"/>
                </a:moveTo>
                <a:cubicBezTo>
                  <a:pt x="5104" y="725"/>
                  <a:pt x="5577" y="1198"/>
                  <a:pt x="5577" y="1734"/>
                </a:cubicBezTo>
                <a:lnTo>
                  <a:pt x="5577" y="5010"/>
                </a:lnTo>
                <a:lnTo>
                  <a:pt x="4474" y="6113"/>
                </a:lnTo>
                <a:cubicBezTo>
                  <a:pt x="4253" y="6302"/>
                  <a:pt x="4096" y="6585"/>
                  <a:pt x="4033" y="6869"/>
                </a:cubicBezTo>
                <a:lnTo>
                  <a:pt x="2143" y="6869"/>
                </a:lnTo>
                <a:lnTo>
                  <a:pt x="2143" y="725"/>
                </a:lnTo>
                <a:close/>
                <a:moveTo>
                  <a:pt x="1418" y="1419"/>
                </a:moveTo>
                <a:lnTo>
                  <a:pt x="1418" y="7247"/>
                </a:lnTo>
                <a:cubicBezTo>
                  <a:pt x="1418" y="7468"/>
                  <a:pt x="1575" y="7625"/>
                  <a:pt x="1796" y="7625"/>
                </a:cubicBezTo>
                <a:lnTo>
                  <a:pt x="3938" y="7625"/>
                </a:lnTo>
                <a:cubicBezTo>
                  <a:pt x="4001" y="7846"/>
                  <a:pt x="4064" y="8098"/>
                  <a:pt x="4190" y="8287"/>
                </a:cubicBezTo>
                <a:lnTo>
                  <a:pt x="725" y="8287"/>
                </a:lnTo>
                <a:lnTo>
                  <a:pt x="725" y="1419"/>
                </a:lnTo>
                <a:close/>
                <a:moveTo>
                  <a:pt x="6648" y="2112"/>
                </a:moveTo>
                <a:cubicBezTo>
                  <a:pt x="6837" y="2112"/>
                  <a:pt x="6994" y="2269"/>
                  <a:pt x="6994" y="2458"/>
                </a:cubicBezTo>
                <a:lnTo>
                  <a:pt x="6994" y="6554"/>
                </a:lnTo>
                <a:cubicBezTo>
                  <a:pt x="6994" y="6743"/>
                  <a:pt x="7152" y="6900"/>
                  <a:pt x="7341" y="6900"/>
                </a:cubicBezTo>
                <a:cubicBezTo>
                  <a:pt x="7530" y="6900"/>
                  <a:pt x="7687" y="6743"/>
                  <a:pt x="7687" y="6554"/>
                </a:cubicBezTo>
                <a:lnTo>
                  <a:pt x="7687" y="3844"/>
                </a:lnTo>
                <a:cubicBezTo>
                  <a:pt x="7687" y="3624"/>
                  <a:pt x="7845" y="3466"/>
                  <a:pt x="8065" y="3466"/>
                </a:cubicBezTo>
                <a:cubicBezTo>
                  <a:pt x="8254" y="3466"/>
                  <a:pt x="8412" y="3624"/>
                  <a:pt x="8412" y="3844"/>
                </a:cubicBezTo>
                <a:lnTo>
                  <a:pt x="8412" y="6554"/>
                </a:lnTo>
                <a:cubicBezTo>
                  <a:pt x="8412" y="6743"/>
                  <a:pt x="8570" y="6900"/>
                  <a:pt x="8759" y="6900"/>
                </a:cubicBezTo>
                <a:cubicBezTo>
                  <a:pt x="8948" y="6900"/>
                  <a:pt x="9105" y="6743"/>
                  <a:pt x="9105" y="6554"/>
                </a:cubicBezTo>
                <a:lnTo>
                  <a:pt x="9105" y="5168"/>
                </a:lnTo>
                <a:cubicBezTo>
                  <a:pt x="9105" y="4979"/>
                  <a:pt x="9263" y="4821"/>
                  <a:pt x="9483" y="4821"/>
                </a:cubicBezTo>
                <a:cubicBezTo>
                  <a:pt x="9672" y="4821"/>
                  <a:pt x="9830" y="4979"/>
                  <a:pt x="9830" y="5168"/>
                </a:cubicBezTo>
                <a:lnTo>
                  <a:pt x="9830" y="6554"/>
                </a:lnTo>
                <a:cubicBezTo>
                  <a:pt x="9830" y="6743"/>
                  <a:pt x="9987" y="6900"/>
                  <a:pt x="10176" y="6900"/>
                </a:cubicBezTo>
                <a:cubicBezTo>
                  <a:pt x="10365" y="6900"/>
                  <a:pt x="10523" y="6743"/>
                  <a:pt x="10523" y="6554"/>
                </a:cubicBezTo>
                <a:lnTo>
                  <a:pt x="10523" y="5892"/>
                </a:lnTo>
                <a:cubicBezTo>
                  <a:pt x="10523" y="5672"/>
                  <a:pt x="10680" y="5514"/>
                  <a:pt x="10901" y="5514"/>
                </a:cubicBezTo>
                <a:cubicBezTo>
                  <a:pt x="11090" y="5514"/>
                  <a:pt x="11247" y="5672"/>
                  <a:pt x="11247" y="5892"/>
                </a:cubicBezTo>
                <a:cubicBezTo>
                  <a:pt x="11090" y="5955"/>
                  <a:pt x="11090" y="8633"/>
                  <a:pt x="11090" y="8791"/>
                </a:cubicBezTo>
                <a:cubicBezTo>
                  <a:pt x="11090" y="9043"/>
                  <a:pt x="10995" y="9232"/>
                  <a:pt x="10838" y="9389"/>
                </a:cubicBezTo>
                <a:cubicBezTo>
                  <a:pt x="10586" y="9673"/>
                  <a:pt x="10397" y="10051"/>
                  <a:pt x="10397" y="10460"/>
                </a:cubicBezTo>
                <a:lnTo>
                  <a:pt x="10397" y="11028"/>
                </a:lnTo>
                <a:lnTo>
                  <a:pt x="6270" y="11028"/>
                </a:lnTo>
                <a:lnTo>
                  <a:pt x="6270" y="10397"/>
                </a:lnTo>
                <a:cubicBezTo>
                  <a:pt x="6270" y="10051"/>
                  <a:pt x="6144" y="9673"/>
                  <a:pt x="5923" y="9389"/>
                </a:cubicBezTo>
                <a:lnTo>
                  <a:pt x="4852" y="7972"/>
                </a:lnTo>
                <a:cubicBezTo>
                  <a:pt x="4537" y="7562"/>
                  <a:pt x="4600" y="6995"/>
                  <a:pt x="4946" y="6617"/>
                </a:cubicBezTo>
                <a:lnTo>
                  <a:pt x="5577" y="5987"/>
                </a:lnTo>
                <a:lnTo>
                  <a:pt x="5577" y="6554"/>
                </a:lnTo>
                <a:cubicBezTo>
                  <a:pt x="5577" y="6743"/>
                  <a:pt x="5734" y="6900"/>
                  <a:pt x="5923" y="6900"/>
                </a:cubicBezTo>
                <a:cubicBezTo>
                  <a:pt x="6112" y="6900"/>
                  <a:pt x="6270" y="6743"/>
                  <a:pt x="6270" y="6554"/>
                </a:cubicBezTo>
                <a:lnTo>
                  <a:pt x="6270" y="2458"/>
                </a:lnTo>
                <a:cubicBezTo>
                  <a:pt x="6270" y="2269"/>
                  <a:pt x="6427" y="2112"/>
                  <a:pt x="6648" y="2112"/>
                </a:cubicBezTo>
                <a:close/>
                <a:moveTo>
                  <a:pt x="1733" y="1"/>
                </a:moveTo>
                <a:cubicBezTo>
                  <a:pt x="1544" y="1"/>
                  <a:pt x="1386" y="158"/>
                  <a:pt x="1386" y="379"/>
                </a:cubicBezTo>
                <a:lnTo>
                  <a:pt x="1386" y="725"/>
                </a:lnTo>
                <a:lnTo>
                  <a:pt x="378" y="725"/>
                </a:lnTo>
                <a:cubicBezTo>
                  <a:pt x="158" y="725"/>
                  <a:pt x="0" y="883"/>
                  <a:pt x="0" y="1072"/>
                </a:cubicBezTo>
                <a:lnTo>
                  <a:pt x="0" y="8602"/>
                </a:lnTo>
                <a:cubicBezTo>
                  <a:pt x="0" y="8791"/>
                  <a:pt x="158" y="8948"/>
                  <a:pt x="378" y="8948"/>
                </a:cubicBezTo>
                <a:lnTo>
                  <a:pt x="4663" y="8948"/>
                </a:lnTo>
                <a:lnTo>
                  <a:pt x="5293" y="9830"/>
                </a:lnTo>
                <a:cubicBezTo>
                  <a:pt x="5419" y="9988"/>
                  <a:pt x="5482" y="10208"/>
                  <a:pt x="5482" y="10460"/>
                </a:cubicBezTo>
                <a:lnTo>
                  <a:pt x="5482" y="11406"/>
                </a:lnTo>
                <a:cubicBezTo>
                  <a:pt x="5482" y="11595"/>
                  <a:pt x="5640" y="11752"/>
                  <a:pt x="5829" y="11752"/>
                </a:cubicBezTo>
                <a:lnTo>
                  <a:pt x="10649" y="11752"/>
                </a:lnTo>
                <a:cubicBezTo>
                  <a:pt x="10838" y="11752"/>
                  <a:pt x="10995" y="11595"/>
                  <a:pt x="10995" y="11406"/>
                </a:cubicBezTo>
                <a:lnTo>
                  <a:pt x="10995" y="10460"/>
                </a:lnTo>
                <a:cubicBezTo>
                  <a:pt x="10995" y="10208"/>
                  <a:pt x="11090" y="10019"/>
                  <a:pt x="11247" y="9862"/>
                </a:cubicBezTo>
                <a:cubicBezTo>
                  <a:pt x="11500" y="9578"/>
                  <a:pt x="11657" y="9200"/>
                  <a:pt x="11657" y="8791"/>
                </a:cubicBezTo>
                <a:lnTo>
                  <a:pt x="11657" y="1072"/>
                </a:lnTo>
                <a:cubicBezTo>
                  <a:pt x="11752" y="883"/>
                  <a:pt x="11594" y="725"/>
                  <a:pt x="11405" y="725"/>
                </a:cubicBezTo>
                <a:lnTo>
                  <a:pt x="10365" y="725"/>
                </a:lnTo>
                <a:lnTo>
                  <a:pt x="10365" y="379"/>
                </a:lnTo>
                <a:cubicBezTo>
                  <a:pt x="10365" y="158"/>
                  <a:pt x="10208" y="1"/>
                  <a:pt x="10019" y="1"/>
                </a:cubicBezTo>
                <a:lnTo>
                  <a:pt x="7246" y="1"/>
                </a:lnTo>
                <a:cubicBezTo>
                  <a:pt x="6711" y="1"/>
                  <a:pt x="6207" y="284"/>
                  <a:pt x="5892" y="662"/>
                </a:cubicBezTo>
                <a:cubicBezTo>
                  <a:pt x="5577" y="253"/>
                  <a:pt x="5041" y="1"/>
                  <a:pt x="450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578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324609-0C67-8B46-B974-10191B26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084"/>
            <a:ext cx="4177994" cy="3265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FAEB57-FCD7-D622-9A74-01397F962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864" y="1709501"/>
            <a:ext cx="4755136" cy="2239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418EC2-71C3-4BDF-E055-26E54812E5BE}"/>
              </a:ext>
            </a:extLst>
          </p:cNvPr>
          <p:cNvSpPr txBox="1"/>
          <p:nvPr/>
        </p:nvSpPr>
        <p:spPr>
          <a:xfrm>
            <a:off x="101600" y="3982362"/>
            <a:ext cx="4076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maupun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getter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dapat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menjalankan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suatu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prosedur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tambahan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dibutuhkan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sebelum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menyimpan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atau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mengembalikan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nilai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dari private property</a:t>
            </a:r>
            <a:endParaRPr lang="id-ID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DEB5D-D94E-31C3-C3D3-4E887A82BC6B}"/>
              </a:ext>
            </a:extLst>
          </p:cNvPr>
          <p:cNvSpPr txBox="1"/>
          <p:nvPr/>
        </p:nvSpPr>
        <p:spPr>
          <a:xfrm>
            <a:off x="4388864" y="3982362"/>
            <a:ext cx="4755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Jika tidak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prosedur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tambahan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yang harus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dijalankan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maupun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getter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dapat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dideklarasikan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secara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ringkas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menggunakan fat arrow operator</a:t>
            </a:r>
            <a:endParaRPr lang="id-ID" dirty="0">
              <a:solidFill>
                <a:schemeClr val="accent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869073-38A0-9F65-BF4A-83AD59859745}"/>
              </a:ext>
            </a:extLst>
          </p:cNvPr>
          <p:cNvSpPr/>
          <p:nvPr/>
        </p:nvSpPr>
        <p:spPr>
          <a:xfrm>
            <a:off x="211015" y="1946031"/>
            <a:ext cx="3294185" cy="76200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D214E8-D8D6-9176-4BB5-957ACF0C2F80}"/>
              </a:ext>
            </a:extLst>
          </p:cNvPr>
          <p:cNvSpPr/>
          <p:nvPr/>
        </p:nvSpPr>
        <p:spPr>
          <a:xfrm>
            <a:off x="211014" y="2947635"/>
            <a:ext cx="3856894" cy="663073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2BAB46-AC87-5B03-3650-A21E44965C74}"/>
              </a:ext>
            </a:extLst>
          </p:cNvPr>
          <p:cNvSpPr/>
          <p:nvPr/>
        </p:nvSpPr>
        <p:spPr>
          <a:xfrm>
            <a:off x="4607169" y="2950401"/>
            <a:ext cx="4431323" cy="203107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5DF3D5-FBB3-E38C-3D23-0A9672B52D18}"/>
              </a:ext>
            </a:extLst>
          </p:cNvPr>
          <p:cNvSpPr/>
          <p:nvPr/>
        </p:nvSpPr>
        <p:spPr>
          <a:xfrm>
            <a:off x="4607168" y="3431047"/>
            <a:ext cx="3200401" cy="203107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32164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0"/>
          <p:cNvSpPr txBox="1">
            <a:spLocks noGrp="1"/>
          </p:cNvSpPr>
          <p:nvPr>
            <p:ph type="title"/>
          </p:nvPr>
        </p:nvSpPr>
        <p:spPr>
          <a:xfrm>
            <a:off x="5360825" y="540000"/>
            <a:ext cx="306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Contoh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55112" y="3541430"/>
            <a:ext cx="236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Setter</a:t>
            </a:r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dapat digunakan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untuk</a:t>
            </a:r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d-ID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validasi</a:t>
            </a:r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data yang akan disimpan oleh properti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4793B-2F75-94E4-C035-7667214E3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203"/>
            <a:ext cx="5310546" cy="947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0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055111" y="393116"/>
            <a:ext cx="25470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Sementara itu </a:t>
            </a:r>
            <a:r>
              <a:rPr lang="id-ID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getter</a:t>
            </a:r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dapat digunakan untuk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memformat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atau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menerapkan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prosedur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tertentu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terhadap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d-ID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 yang akan dikirim ke luar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D0055-DC22-128A-03CC-0D2B33CFB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60800"/>
            <a:ext cx="5310546" cy="947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56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3A50F8-FC79-CA6E-ED7E-DC3B0CCE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31356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64790" y="1460293"/>
            <a:ext cx="1968810" cy="56521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ounded Rectangle 4"/>
          <p:cNvSpPr/>
          <p:nvPr/>
        </p:nvSpPr>
        <p:spPr>
          <a:xfrm>
            <a:off x="79022" y="2095878"/>
            <a:ext cx="2280356" cy="2961543"/>
          </a:xfrm>
          <a:prstGeom prst="roundRect">
            <a:avLst>
              <a:gd name="adj" fmla="val 6271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/>
          <p:cNvSpPr txBox="1"/>
          <p:nvPr/>
        </p:nvSpPr>
        <p:spPr>
          <a:xfrm>
            <a:off x="3258460" y="1231188"/>
            <a:ext cx="1805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Penggunaan </a:t>
            </a:r>
            <a:r>
              <a:rPr lang="id-ID" sz="1600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setter</a:t>
            </a:r>
            <a:endParaRPr lang="id-ID" sz="1600" dirty="0">
              <a:solidFill>
                <a:srgbClr val="C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Curved Connector 8"/>
          <p:cNvCxnSpPr>
            <a:cxnSpLocks/>
            <a:stCxn id="4" idx="3"/>
            <a:endCxn id="7" idx="1"/>
          </p:cNvCxnSpPr>
          <p:nvPr/>
        </p:nvCxnSpPr>
        <p:spPr>
          <a:xfrm flipV="1">
            <a:off x="2133600" y="1400465"/>
            <a:ext cx="1124860" cy="342434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58460" y="3950690"/>
            <a:ext cx="1842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Penggunaan </a:t>
            </a:r>
            <a:r>
              <a:rPr lang="id-ID" sz="1600" dirty="0" err="1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getter</a:t>
            </a:r>
            <a:endParaRPr lang="id-ID" sz="1600" dirty="0">
              <a:solidFill>
                <a:srgbClr val="C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Curved Connector 13"/>
          <p:cNvCxnSpPr>
            <a:cxnSpLocks/>
            <a:stCxn id="5" idx="3"/>
            <a:endCxn id="13" idx="1"/>
          </p:cNvCxnSpPr>
          <p:nvPr/>
        </p:nvCxnSpPr>
        <p:spPr>
          <a:xfrm>
            <a:off x="2359378" y="3576650"/>
            <a:ext cx="899082" cy="543317"/>
          </a:xfrm>
          <a:prstGeom prst="curvedConnector3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EFECFEF-88C3-16D5-EE01-FE3AB57A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203" y="1954896"/>
            <a:ext cx="517279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904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0C4CFBC-E297-89DC-E5B8-6712FEEED4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3177207"/>
              </p:ext>
            </p:extLst>
          </p:nvPr>
        </p:nvGraphicFramePr>
        <p:xfrm>
          <a:off x="1192350" y="1286875"/>
          <a:ext cx="6759300" cy="317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F0DB42D-6D93-9487-F710-64F8074B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Kapan Setter &amp; Getter  Digunakan?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1729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1ABD6E-F1CD-411D-BBF8-94422AA0D8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F31ABD6E-F1CD-411D-BBF8-94422AA0D8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F31ABD6E-F1CD-411D-BBF8-94422AA0D8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7EE6928-C94F-4A32-8402-71D416319C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37EE6928-C94F-4A32-8402-71D416319C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graphicEl>
                                              <a:dgm id="{37EE6928-C94F-4A32-8402-71D416319C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540592-ACE0-4386-B7D8-9C830807C7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graphicEl>
                                              <a:dgm id="{9D540592-ACE0-4386-B7D8-9C830807C7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graphicEl>
                                              <a:dgm id="{9D540592-ACE0-4386-B7D8-9C830807C7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497" y="2330605"/>
            <a:ext cx="3778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600">
                <a:solidFill>
                  <a:schemeClr val="bg1"/>
                </a:solidFill>
                <a:latin typeface="Eras Demi ITC" panose="020B0805030504020804" pitchFamily="34" charset="0"/>
              </a:rPr>
              <a:t>- Sampai jumpa di materi berikutnya -</a:t>
            </a:r>
          </a:p>
        </p:txBody>
      </p:sp>
    </p:spTree>
    <p:extLst>
      <p:ext uri="{BB962C8B-B14F-4D97-AF65-F5344CB8AC3E}">
        <p14:creationId xmlns:p14="http://schemas.microsoft.com/office/powerpoint/2010/main" val="21324340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Meeting by Slidesgo">
  <a:themeElements>
    <a:clrScheme name="Simple Light">
      <a:dk1>
        <a:srgbClr val="000000"/>
      </a:dk1>
      <a:lt1>
        <a:srgbClr val="FFFFFF"/>
      </a:lt1>
      <a:dk2>
        <a:srgbClr val="637B7F"/>
      </a:dk2>
      <a:lt2>
        <a:srgbClr val="EBB55A"/>
      </a:lt2>
      <a:accent1>
        <a:srgbClr val="D84E2E"/>
      </a:accent1>
      <a:accent2>
        <a:srgbClr val="637B7F"/>
      </a:accent2>
      <a:accent3>
        <a:srgbClr val="EBB55A"/>
      </a:accent3>
      <a:accent4>
        <a:srgbClr val="D84E2E"/>
      </a:accent4>
      <a:accent5>
        <a:srgbClr val="637B7F"/>
      </a:accent5>
      <a:accent6>
        <a:srgbClr val="EBB55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imple Meeting by Slidesgo">
  <a:themeElements>
    <a:clrScheme name="Simple Light">
      <a:dk1>
        <a:srgbClr val="000000"/>
      </a:dk1>
      <a:lt1>
        <a:srgbClr val="FFFFFF"/>
      </a:lt1>
      <a:dk2>
        <a:srgbClr val="637B7F"/>
      </a:dk2>
      <a:lt2>
        <a:srgbClr val="EBB55A"/>
      </a:lt2>
      <a:accent1>
        <a:srgbClr val="D84E2E"/>
      </a:accent1>
      <a:accent2>
        <a:srgbClr val="637B7F"/>
      </a:accent2>
      <a:accent3>
        <a:srgbClr val="EBB55A"/>
      </a:accent3>
      <a:accent4>
        <a:srgbClr val="D84E2E"/>
      </a:accent4>
      <a:accent5>
        <a:srgbClr val="637B7F"/>
      </a:accent5>
      <a:accent6>
        <a:srgbClr val="EBB55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6725</TotalTime>
  <Words>621</Words>
  <Application>Microsoft Office PowerPoint</Application>
  <PresentationFormat>On-screen Show (16:9)</PresentationFormat>
  <Paragraphs>102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Reem Kufi</vt:lpstr>
      <vt:lpstr>Eras Demi ITC</vt:lpstr>
      <vt:lpstr>Proxima Nova</vt:lpstr>
      <vt:lpstr>Arial</vt:lpstr>
      <vt:lpstr>Source Sans Pro</vt:lpstr>
      <vt:lpstr>Proxima Nova Semibold</vt:lpstr>
      <vt:lpstr>Simple Meeting by Slidesgo</vt:lpstr>
      <vt:lpstr>Slidesgo Final Pages</vt:lpstr>
      <vt:lpstr>1_Simple Meeting by Slidesgo</vt:lpstr>
      <vt:lpstr>ENCAPSULATION</vt:lpstr>
      <vt:lpstr>01</vt:lpstr>
      <vt:lpstr>Contoh Kasus #1: Apoteker</vt:lpstr>
      <vt:lpstr>Contoh Kasus #2: Restoran</vt:lpstr>
      <vt:lpstr>PowerPoint Presentation</vt:lpstr>
      <vt:lpstr>Pembatasan Akses dengan Enkapsulasi</vt:lpstr>
      <vt:lpstr>02</vt:lpstr>
      <vt:lpstr>Contoh Kasus</vt:lpstr>
      <vt:lpstr>Tapi bagaimana jika...</vt:lpstr>
      <vt:lpstr>Analisis Kasus</vt:lpstr>
      <vt:lpstr>Encapsulation Modifiers</vt:lpstr>
      <vt:lpstr>Perbandingan Cakupan Akses Tiap Modifier</vt:lpstr>
      <vt:lpstr>Encapsulation Modifier Pada Dart</vt:lpstr>
      <vt:lpstr>Private Property &amp; Method</vt:lpstr>
      <vt:lpstr>Contoh &gt;&gt;&gt;</vt:lpstr>
      <vt:lpstr>Solusi Kasus Sebelumnya</vt:lpstr>
      <vt:lpstr>Setter &amp; Getter</vt:lpstr>
      <vt:lpstr>PowerPoint Presentation</vt:lpstr>
      <vt:lpstr>Contoh</vt:lpstr>
      <vt:lpstr>PowerPoint Presentation</vt:lpstr>
      <vt:lpstr>PowerPoint Presentation</vt:lpstr>
      <vt:lpstr>Kapan Setter &amp; Getter  Digunakan?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MEETING</dc:title>
  <dc:creator>Khoirul Umam</dc:creator>
  <cp:lastModifiedBy>Khoirul Umam</cp:lastModifiedBy>
  <cp:revision>198</cp:revision>
  <dcterms:modified xsi:type="dcterms:W3CDTF">2024-03-04T15:46:35Z</dcterms:modified>
</cp:coreProperties>
</file>